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54" r:id="rId1"/>
  </p:sldMasterIdLst>
  <p:notesMasterIdLst>
    <p:notesMasterId r:id="rId9"/>
  </p:notesMasterIdLst>
  <p:sldIdLst>
    <p:sldId id="266" r:id="rId2"/>
    <p:sldId id="267" r:id="rId3"/>
    <p:sldId id="268" r:id="rId4"/>
    <p:sldId id="269" r:id="rId5"/>
    <p:sldId id="27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Productividad</c:v>
                </c:pt>
              </c:strCache>
            </c:strRef>
          </c:tx>
          <c:spPr>
            <a:ln w="25400" cap="flat">
              <a:solidFill>
                <a:srgbClr val="2B6B5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B6B57"/>
              </a:solidFill>
              <a:ln w="9525" cap="flat">
                <a:solidFill>
                  <a:srgbClr val="2B6B57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2023-07</c:v>
                </c:pt>
                <c:pt idx="1">
                  <c:v>2023-08</c:v>
                </c:pt>
                <c:pt idx="2">
                  <c:v>2023-09</c:v>
                </c:pt>
                <c:pt idx="3">
                  <c:v>2023-10</c:v>
                </c:pt>
                <c:pt idx="4">
                  <c:v>2023-11</c:v>
                </c:pt>
                <c:pt idx="5">
                  <c:v>2023-12</c:v>
                </c:pt>
                <c:pt idx="6">
                  <c:v>2024-01</c:v>
                </c:pt>
                <c:pt idx="7">
                  <c:v>2024-02</c:v>
                </c:pt>
                <c:pt idx="8">
                  <c:v>2024-03</c:v>
                </c:pt>
                <c:pt idx="9">
                  <c:v>2024-04</c:v>
                </c:pt>
                <c:pt idx="10">
                  <c:v>2024-05</c:v>
                </c:pt>
                <c:pt idx="11">
                  <c:v>2024-06</c:v>
                </c:pt>
                <c:pt idx="12">
                  <c:v>2024-07</c:v>
                </c:pt>
                <c:pt idx="13">
                  <c:v>2024-08</c:v>
                </c:pt>
                <c:pt idx="14">
                  <c:v>2024-09</c:v>
                </c:pt>
                <c:pt idx="15">
                  <c:v>2024-10</c:v>
                </c:pt>
                <c:pt idx="16">
                  <c:v>2024-11</c:v>
                </c:pt>
                <c:pt idx="17">
                  <c:v>2025-01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100</c:v>
                </c:pt>
                <c:pt idx="1">
                  <c:v>100.4</c:v>
                </c:pt>
                <c:pt idx="2">
                  <c:v>101.1</c:v>
                </c:pt>
                <c:pt idx="3">
                  <c:v>102.1</c:v>
                </c:pt>
                <c:pt idx="4">
                  <c:v>103.2</c:v>
                </c:pt>
                <c:pt idx="5">
                  <c:v>104.4</c:v>
                </c:pt>
                <c:pt idx="6">
                  <c:v>106</c:v>
                </c:pt>
                <c:pt idx="7">
                  <c:v>107.6</c:v>
                </c:pt>
                <c:pt idx="8">
                  <c:v>109.4</c:v>
                </c:pt>
                <c:pt idx="9">
                  <c:v>111.4</c:v>
                </c:pt>
                <c:pt idx="10">
                  <c:v>113.2</c:v>
                </c:pt>
                <c:pt idx="11">
                  <c:v>115</c:v>
                </c:pt>
                <c:pt idx="12">
                  <c:v>116.4</c:v>
                </c:pt>
                <c:pt idx="13">
                  <c:v>117.4</c:v>
                </c:pt>
                <c:pt idx="14">
                  <c:v>118.1</c:v>
                </c:pt>
                <c:pt idx="15">
                  <c:v>118.5</c:v>
                </c:pt>
                <c:pt idx="16">
                  <c:v>118.8</c:v>
                </c:pt>
                <c:pt idx="17">
                  <c:v>118.1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54B-4055-AFBD-623A164DED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Unidades/día</c:v>
                </c:pt>
              </c:strCache>
            </c:strRef>
          </c:tx>
          <c:spPr>
            <a:ln w="25400" cap="flat">
              <a:solidFill>
                <a:srgbClr val="3E7CB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E7CB1"/>
              </a:solidFill>
              <a:ln w="9525" cap="flat">
                <a:solidFill>
                  <a:srgbClr val="3E7CB1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2023-07</c:v>
                </c:pt>
                <c:pt idx="1">
                  <c:v>2023-08</c:v>
                </c:pt>
                <c:pt idx="2">
                  <c:v>2023-09</c:v>
                </c:pt>
                <c:pt idx="3">
                  <c:v>2023-10</c:v>
                </c:pt>
                <c:pt idx="4">
                  <c:v>2023-11</c:v>
                </c:pt>
                <c:pt idx="5">
                  <c:v>2023-12</c:v>
                </c:pt>
                <c:pt idx="6">
                  <c:v>2024-01</c:v>
                </c:pt>
                <c:pt idx="7">
                  <c:v>2024-02</c:v>
                </c:pt>
                <c:pt idx="8">
                  <c:v>2024-03</c:v>
                </c:pt>
                <c:pt idx="9">
                  <c:v>2024-04</c:v>
                </c:pt>
                <c:pt idx="10">
                  <c:v>2024-05</c:v>
                </c:pt>
                <c:pt idx="11">
                  <c:v>2024-06</c:v>
                </c:pt>
                <c:pt idx="12">
                  <c:v>2024-07</c:v>
                </c:pt>
                <c:pt idx="13">
                  <c:v>2024-08</c:v>
                </c:pt>
                <c:pt idx="14">
                  <c:v>2024-09</c:v>
                </c:pt>
                <c:pt idx="15">
                  <c:v>2024-10</c:v>
                </c:pt>
                <c:pt idx="16">
                  <c:v>2024-11</c:v>
                </c:pt>
                <c:pt idx="17">
                  <c:v>2025-01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100</c:v>
                </c:pt>
                <c:pt idx="1">
                  <c:v>101.1</c:v>
                </c:pt>
                <c:pt idx="2">
                  <c:v>102.7</c:v>
                </c:pt>
                <c:pt idx="3">
                  <c:v>104.4</c:v>
                </c:pt>
                <c:pt idx="4">
                  <c:v>106.2</c:v>
                </c:pt>
                <c:pt idx="5">
                  <c:v>108.2</c:v>
                </c:pt>
                <c:pt idx="6">
                  <c:v>110.4</c:v>
                </c:pt>
                <c:pt idx="7">
                  <c:v>112.9</c:v>
                </c:pt>
                <c:pt idx="8">
                  <c:v>115.6</c:v>
                </c:pt>
                <c:pt idx="9">
                  <c:v>118.4</c:v>
                </c:pt>
                <c:pt idx="10">
                  <c:v>121.6</c:v>
                </c:pt>
                <c:pt idx="11">
                  <c:v>124.9</c:v>
                </c:pt>
                <c:pt idx="12">
                  <c:v>127.6</c:v>
                </c:pt>
                <c:pt idx="13">
                  <c:v>130</c:v>
                </c:pt>
                <c:pt idx="14">
                  <c:v>132</c:v>
                </c:pt>
                <c:pt idx="15">
                  <c:v>133.30000000000001</c:v>
                </c:pt>
                <c:pt idx="16">
                  <c:v>134.4</c:v>
                </c:pt>
                <c:pt idx="17">
                  <c:v>128.9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54B-4055-AFBD-623A164DEDD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Calidad: menos defectos</c:v>
                </c:pt>
              </c:strCache>
            </c:strRef>
          </c:tx>
          <c:spPr>
            <a:ln w="25400" cap="flat">
              <a:solidFill>
                <a:srgbClr val="E8A13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A13A"/>
              </a:solidFill>
              <a:ln w="9525" cap="flat">
                <a:solidFill>
                  <a:srgbClr val="E8A13A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2023-07</c:v>
                </c:pt>
                <c:pt idx="1">
                  <c:v>2023-08</c:v>
                </c:pt>
                <c:pt idx="2">
                  <c:v>2023-09</c:v>
                </c:pt>
                <c:pt idx="3">
                  <c:v>2023-10</c:v>
                </c:pt>
                <c:pt idx="4">
                  <c:v>2023-11</c:v>
                </c:pt>
                <c:pt idx="5">
                  <c:v>2023-12</c:v>
                </c:pt>
                <c:pt idx="6">
                  <c:v>2024-01</c:v>
                </c:pt>
                <c:pt idx="7">
                  <c:v>2024-02</c:v>
                </c:pt>
                <c:pt idx="8">
                  <c:v>2024-03</c:v>
                </c:pt>
                <c:pt idx="9">
                  <c:v>2024-04</c:v>
                </c:pt>
                <c:pt idx="10">
                  <c:v>2024-05</c:v>
                </c:pt>
                <c:pt idx="11">
                  <c:v>2024-06</c:v>
                </c:pt>
                <c:pt idx="12">
                  <c:v>2024-07</c:v>
                </c:pt>
                <c:pt idx="13">
                  <c:v>2024-08</c:v>
                </c:pt>
                <c:pt idx="14">
                  <c:v>2024-09</c:v>
                </c:pt>
                <c:pt idx="15">
                  <c:v>2024-10</c:v>
                </c:pt>
                <c:pt idx="16">
                  <c:v>2024-11</c:v>
                </c:pt>
                <c:pt idx="17">
                  <c:v>2025-01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100</c:v>
                </c:pt>
                <c:pt idx="1">
                  <c:v>101.2</c:v>
                </c:pt>
                <c:pt idx="2">
                  <c:v>102.9</c:v>
                </c:pt>
                <c:pt idx="3">
                  <c:v>105.5</c:v>
                </c:pt>
                <c:pt idx="4">
                  <c:v>109.1</c:v>
                </c:pt>
                <c:pt idx="5">
                  <c:v>114.1</c:v>
                </c:pt>
                <c:pt idx="6">
                  <c:v>120.7</c:v>
                </c:pt>
                <c:pt idx="7">
                  <c:v>129.19999999999999</c:v>
                </c:pt>
                <c:pt idx="8">
                  <c:v>140.9</c:v>
                </c:pt>
                <c:pt idx="9">
                  <c:v>156.69999999999999</c:v>
                </c:pt>
                <c:pt idx="10">
                  <c:v>178.7</c:v>
                </c:pt>
                <c:pt idx="11">
                  <c:v>204.9</c:v>
                </c:pt>
                <c:pt idx="12">
                  <c:v>236</c:v>
                </c:pt>
                <c:pt idx="13">
                  <c:v>265.8</c:v>
                </c:pt>
                <c:pt idx="14">
                  <c:v>289.7</c:v>
                </c:pt>
                <c:pt idx="15">
                  <c:v>304.3</c:v>
                </c:pt>
                <c:pt idx="16">
                  <c:v>311.10000000000002</c:v>
                </c:pt>
                <c:pt idx="17">
                  <c:v>233.3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54B-4055-AFBD-623A164DEDD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Velocidad: menor ciclo</c:v>
                </c:pt>
              </c:strCache>
            </c:strRef>
          </c:tx>
          <c:spPr>
            <a:ln w="25400" cap="flat">
              <a:solidFill>
                <a:srgbClr val="B65B5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65B5B"/>
              </a:solidFill>
              <a:ln w="9525" cap="flat">
                <a:solidFill>
                  <a:srgbClr val="B65B5B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2023-07</c:v>
                </c:pt>
                <c:pt idx="1">
                  <c:v>2023-08</c:v>
                </c:pt>
                <c:pt idx="2">
                  <c:v>2023-09</c:v>
                </c:pt>
                <c:pt idx="3">
                  <c:v>2023-10</c:v>
                </c:pt>
                <c:pt idx="4">
                  <c:v>2023-11</c:v>
                </c:pt>
                <c:pt idx="5">
                  <c:v>2023-12</c:v>
                </c:pt>
                <c:pt idx="6">
                  <c:v>2024-01</c:v>
                </c:pt>
                <c:pt idx="7">
                  <c:v>2024-02</c:v>
                </c:pt>
                <c:pt idx="8">
                  <c:v>2024-03</c:v>
                </c:pt>
                <c:pt idx="9">
                  <c:v>2024-04</c:v>
                </c:pt>
                <c:pt idx="10">
                  <c:v>2024-05</c:v>
                </c:pt>
                <c:pt idx="11">
                  <c:v>2024-06</c:v>
                </c:pt>
                <c:pt idx="12">
                  <c:v>2024-07</c:v>
                </c:pt>
                <c:pt idx="13">
                  <c:v>2024-08</c:v>
                </c:pt>
                <c:pt idx="14">
                  <c:v>2024-09</c:v>
                </c:pt>
                <c:pt idx="15">
                  <c:v>2024-10</c:v>
                </c:pt>
                <c:pt idx="16">
                  <c:v>2024-11</c:v>
                </c:pt>
                <c:pt idx="17">
                  <c:v>2025-01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100</c:v>
                </c:pt>
                <c:pt idx="1">
                  <c:v>100.6</c:v>
                </c:pt>
                <c:pt idx="2">
                  <c:v>101.4</c:v>
                </c:pt>
                <c:pt idx="3">
                  <c:v>102.7</c:v>
                </c:pt>
                <c:pt idx="4">
                  <c:v>104.3</c:v>
                </c:pt>
                <c:pt idx="5">
                  <c:v>106.3</c:v>
                </c:pt>
                <c:pt idx="6">
                  <c:v>108.7</c:v>
                </c:pt>
                <c:pt idx="7">
                  <c:v>111.8</c:v>
                </c:pt>
                <c:pt idx="8">
                  <c:v>115.6</c:v>
                </c:pt>
                <c:pt idx="9">
                  <c:v>120.1</c:v>
                </c:pt>
                <c:pt idx="10">
                  <c:v>125.4</c:v>
                </c:pt>
                <c:pt idx="11">
                  <c:v>131.19999999999999</c:v>
                </c:pt>
                <c:pt idx="12">
                  <c:v>137.1</c:v>
                </c:pt>
                <c:pt idx="13">
                  <c:v>142.9</c:v>
                </c:pt>
                <c:pt idx="14">
                  <c:v>147.80000000000001</c:v>
                </c:pt>
                <c:pt idx="15">
                  <c:v>151.80000000000001</c:v>
                </c:pt>
                <c:pt idx="16">
                  <c:v>154.5</c:v>
                </c:pt>
                <c:pt idx="17">
                  <c:v>137.1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54B-4055-AFBD-623A164DED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74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60"/>
          <c:min val="80"/>
        </c:scaling>
        <c:delete val="0"/>
        <c:axPos val="l"/>
        <c:majorGridlines>
          <c:spPr>
            <a:ln w="12700" cap="flat">
              <a:solidFill>
                <a:srgbClr val="DCE5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NPS</c:v>
                </c:pt>
              </c:strCache>
            </c:strRef>
          </c:tx>
          <c:spPr>
            <a:ln w="25400" cap="flat">
              <a:solidFill>
                <a:srgbClr val="2B6B5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B6B57"/>
              </a:solidFill>
              <a:ln w="9525" cap="flat">
                <a:solidFill>
                  <a:srgbClr val="2B6B57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2023-07</c:v>
                </c:pt>
                <c:pt idx="1">
                  <c:v>2023-08</c:v>
                </c:pt>
                <c:pt idx="2">
                  <c:v>2023-09</c:v>
                </c:pt>
                <c:pt idx="3">
                  <c:v>2023-10</c:v>
                </c:pt>
                <c:pt idx="4">
                  <c:v>2023-11</c:v>
                </c:pt>
                <c:pt idx="5">
                  <c:v>2023-12</c:v>
                </c:pt>
                <c:pt idx="6">
                  <c:v>2024-01</c:v>
                </c:pt>
                <c:pt idx="7">
                  <c:v>2024-02</c:v>
                </c:pt>
                <c:pt idx="8">
                  <c:v>2024-03</c:v>
                </c:pt>
                <c:pt idx="9">
                  <c:v>2024-04</c:v>
                </c:pt>
                <c:pt idx="10">
                  <c:v>2024-05</c:v>
                </c:pt>
                <c:pt idx="11">
                  <c:v>2024-06</c:v>
                </c:pt>
                <c:pt idx="12">
                  <c:v>2024-07</c:v>
                </c:pt>
                <c:pt idx="13">
                  <c:v>2024-08</c:v>
                </c:pt>
                <c:pt idx="14">
                  <c:v>2024-09</c:v>
                </c:pt>
                <c:pt idx="15">
                  <c:v>2024-10</c:v>
                </c:pt>
                <c:pt idx="16">
                  <c:v>2024-11</c:v>
                </c:pt>
                <c:pt idx="17">
                  <c:v>2025-01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100</c:v>
                </c:pt>
                <c:pt idx="1">
                  <c:v>102.4</c:v>
                </c:pt>
                <c:pt idx="2">
                  <c:v>104.8</c:v>
                </c:pt>
                <c:pt idx="3">
                  <c:v>107.1</c:v>
                </c:pt>
                <c:pt idx="4">
                  <c:v>109.5</c:v>
                </c:pt>
                <c:pt idx="5">
                  <c:v>114.3</c:v>
                </c:pt>
                <c:pt idx="6">
                  <c:v>119</c:v>
                </c:pt>
                <c:pt idx="7">
                  <c:v>123.8</c:v>
                </c:pt>
                <c:pt idx="8">
                  <c:v>128.6</c:v>
                </c:pt>
                <c:pt idx="9">
                  <c:v>133.30000000000001</c:v>
                </c:pt>
                <c:pt idx="10">
                  <c:v>138.1</c:v>
                </c:pt>
                <c:pt idx="11">
                  <c:v>142.9</c:v>
                </c:pt>
                <c:pt idx="12">
                  <c:v>147.6</c:v>
                </c:pt>
                <c:pt idx="13">
                  <c:v>152.4</c:v>
                </c:pt>
                <c:pt idx="14">
                  <c:v>154.80000000000001</c:v>
                </c:pt>
                <c:pt idx="15">
                  <c:v>157.1</c:v>
                </c:pt>
                <c:pt idx="16">
                  <c:v>159.5</c:v>
                </c:pt>
                <c:pt idx="17">
                  <c:v>161.9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64D-437B-B1D8-8EB651B371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Recompra</c:v>
                </c:pt>
              </c:strCache>
            </c:strRef>
          </c:tx>
          <c:spPr>
            <a:ln w="25400" cap="flat">
              <a:solidFill>
                <a:srgbClr val="3E7CB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E7CB1"/>
              </a:solidFill>
              <a:ln w="9525" cap="flat">
                <a:solidFill>
                  <a:srgbClr val="3E7CB1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2023-07</c:v>
                </c:pt>
                <c:pt idx="1">
                  <c:v>2023-08</c:v>
                </c:pt>
                <c:pt idx="2">
                  <c:v>2023-09</c:v>
                </c:pt>
                <c:pt idx="3">
                  <c:v>2023-10</c:v>
                </c:pt>
                <c:pt idx="4">
                  <c:v>2023-11</c:v>
                </c:pt>
                <c:pt idx="5">
                  <c:v>2023-12</c:v>
                </c:pt>
                <c:pt idx="6">
                  <c:v>2024-01</c:v>
                </c:pt>
                <c:pt idx="7">
                  <c:v>2024-02</c:v>
                </c:pt>
                <c:pt idx="8">
                  <c:v>2024-03</c:v>
                </c:pt>
                <c:pt idx="9">
                  <c:v>2024-04</c:v>
                </c:pt>
                <c:pt idx="10">
                  <c:v>2024-05</c:v>
                </c:pt>
                <c:pt idx="11">
                  <c:v>2024-06</c:v>
                </c:pt>
                <c:pt idx="12">
                  <c:v>2024-07</c:v>
                </c:pt>
                <c:pt idx="13">
                  <c:v>2024-08</c:v>
                </c:pt>
                <c:pt idx="14">
                  <c:v>2024-09</c:v>
                </c:pt>
                <c:pt idx="15">
                  <c:v>2024-10</c:v>
                </c:pt>
                <c:pt idx="16">
                  <c:v>2024-11</c:v>
                </c:pt>
                <c:pt idx="17">
                  <c:v>2025-01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100</c:v>
                </c:pt>
                <c:pt idx="1">
                  <c:v>100.5</c:v>
                </c:pt>
                <c:pt idx="2">
                  <c:v>101.3</c:v>
                </c:pt>
                <c:pt idx="3">
                  <c:v>102.4</c:v>
                </c:pt>
                <c:pt idx="4">
                  <c:v>103.7</c:v>
                </c:pt>
                <c:pt idx="5">
                  <c:v>105.2</c:v>
                </c:pt>
                <c:pt idx="6">
                  <c:v>106.9</c:v>
                </c:pt>
                <c:pt idx="7">
                  <c:v>108.9</c:v>
                </c:pt>
                <c:pt idx="8">
                  <c:v>111</c:v>
                </c:pt>
                <c:pt idx="9">
                  <c:v>113.2</c:v>
                </c:pt>
                <c:pt idx="10">
                  <c:v>115.3</c:v>
                </c:pt>
                <c:pt idx="11">
                  <c:v>117.4</c:v>
                </c:pt>
                <c:pt idx="12">
                  <c:v>119.4</c:v>
                </c:pt>
                <c:pt idx="13">
                  <c:v>121</c:v>
                </c:pt>
                <c:pt idx="14">
                  <c:v>122.3</c:v>
                </c:pt>
                <c:pt idx="15">
                  <c:v>123.1</c:v>
                </c:pt>
                <c:pt idx="16">
                  <c:v>123.9</c:v>
                </c:pt>
                <c:pt idx="17">
                  <c:v>125.8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64D-437B-B1D8-8EB651B371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Menos reclamos</c:v>
                </c:pt>
              </c:strCache>
            </c:strRef>
          </c:tx>
          <c:spPr>
            <a:ln w="25400" cap="flat">
              <a:solidFill>
                <a:srgbClr val="E8A13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A13A"/>
              </a:solidFill>
              <a:ln w="9525" cap="flat">
                <a:solidFill>
                  <a:srgbClr val="E8A13A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2023-07</c:v>
                </c:pt>
                <c:pt idx="1">
                  <c:v>2023-08</c:v>
                </c:pt>
                <c:pt idx="2">
                  <c:v>2023-09</c:v>
                </c:pt>
                <c:pt idx="3">
                  <c:v>2023-10</c:v>
                </c:pt>
                <c:pt idx="4">
                  <c:v>2023-11</c:v>
                </c:pt>
                <c:pt idx="5">
                  <c:v>2023-12</c:v>
                </c:pt>
                <c:pt idx="6">
                  <c:v>2024-01</c:v>
                </c:pt>
                <c:pt idx="7">
                  <c:v>2024-02</c:v>
                </c:pt>
                <c:pt idx="8">
                  <c:v>2024-03</c:v>
                </c:pt>
                <c:pt idx="9">
                  <c:v>2024-04</c:v>
                </c:pt>
                <c:pt idx="10">
                  <c:v>2024-05</c:v>
                </c:pt>
                <c:pt idx="11">
                  <c:v>2024-06</c:v>
                </c:pt>
                <c:pt idx="12">
                  <c:v>2024-07</c:v>
                </c:pt>
                <c:pt idx="13">
                  <c:v>2024-08</c:v>
                </c:pt>
                <c:pt idx="14">
                  <c:v>2024-09</c:v>
                </c:pt>
                <c:pt idx="15">
                  <c:v>2024-10</c:v>
                </c:pt>
                <c:pt idx="16">
                  <c:v>2024-11</c:v>
                </c:pt>
                <c:pt idx="17">
                  <c:v>2025-01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100</c:v>
                </c:pt>
                <c:pt idx="1">
                  <c:v>101.8</c:v>
                </c:pt>
                <c:pt idx="2">
                  <c:v>104.3</c:v>
                </c:pt>
                <c:pt idx="3">
                  <c:v>107.6</c:v>
                </c:pt>
                <c:pt idx="4">
                  <c:v>111.8</c:v>
                </c:pt>
                <c:pt idx="5">
                  <c:v>117.2</c:v>
                </c:pt>
                <c:pt idx="6">
                  <c:v>124.1</c:v>
                </c:pt>
                <c:pt idx="7">
                  <c:v>132.80000000000001</c:v>
                </c:pt>
                <c:pt idx="8">
                  <c:v>144.1</c:v>
                </c:pt>
                <c:pt idx="9">
                  <c:v>158.9</c:v>
                </c:pt>
                <c:pt idx="10">
                  <c:v>178.9</c:v>
                </c:pt>
                <c:pt idx="11">
                  <c:v>204.8</c:v>
                </c:pt>
                <c:pt idx="12">
                  <c:v>236.1</c:v>
                </c:pt>
                <c:pt idx="13">
                  <c:v>269.8</c:v>
                </c:pt>
                <c:pt idx="14">
                  <c:v>298.2</c:v>
                </c:pt>
                <c:pt idx="15">
                  <c:v>320.8</c:v>
                </c:pt>
                <c:pt idx="16">
                  <c:v>333.3</c:v>
                </c:pt>
                <c:pt idx="17">
                  <c:v>265.60000000000002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64D-437B-B1D8-8EB651B371F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Entrega más rápida</c:v>
                </c:pt>
              </c:strCache>
            </c:strRef>
          </c:tx>
          <c:spPr>
            <a:ln w="25400" cap="flat">
              <a:solidFill>
                <a:srgbClr val="B65B5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65B5B"/>
              </a:solidFill>
              <a:ln w="9525" cap="flat">
                <a:solidFill>
                  <a:srgbClr val="B65B5B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2023-07</c:v>
                </c:pt>
                <c:pt idx="1">
                  <c:v>2023-08</c:v>
                </c:pt>
                <c:pt idx="2">
                  <c:v>2023-09</c:v>
                </c:pt>
                <c:pt idx="3">
                  <c:v>2023-10</c:v>
                </c:pt>
                <c:pt idx="4">
                  <c:v>2023-11</c:v>
                </c:pt>
                <c:pt idx="5">
                  <c:v>2023-12</c:v>
                </c:pt>
                <c:pt idx="6">
                  <c:v>2024-01</c:v>
                </c:pt>
                <c:pt idx="7">
                  <c:v>2024-02</c:v>
                </c:pt>
                <c:pt idx="8">
                  <c:v>2024-03</c:v>
                </c:pt>
                <c:pt idx="9">
                  <c:v>2024-04</c:v>
                </c:pt>
                <c:pt idx="10">
                  <c:v>2024-05</c:v>
                </c:pt>
                <c:pt idx="11">
                  <c:v>2024-06</c:v>
                </c:pt>
                <c:pt idx="12">
                  <c:v>2024-07</c:v>
                </c:pt>
                <c:pt idx="13">
                  <c:v>2024-08</c:v>
                </c:pt>
                <c:pt idx="14">
                  <c:v>2024-09</c:v>
                </c:pt>
                <c:pt idx="15">
                  <c:v>2024-10</c:v>
                </c:pt>
                <c:pt idx="16">
                  <c:v>2024-11</c:v>
                </c:pt>
                <c:pt idx="17">
                  <c:v>2025-01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100</c:v>
                </c:pt>
                <c:pt idx="1">
                  <c:v>101.4</c:v>
                </c:pt>
                <c:pt idx="2">
                  <c:v>102.9</c:v>
                </c:pt>
                <c:pt idx="3">
                  <c:v>104.3</c:v>
                </c:pt>
                <c:pt idx="4">
                  <c:v>105.9</c:v>
                </c:pt>
                <c:pt idx="5">
                  <c:v>109.1</c:v>
                </c:pt>
                <c:pt idx="6">
                  <c:v>112.5</c:v>
                </c:pt>
                <c:pt idx="7">
                  <c:v>116.1</c:v>
                </c:pt>
                <c:pt idx="8">
                  <c:v>120</c:v>
                </c:pt>
                <c:pt idx="9">
                  <c:v>126.3</c:v>
                </c:pt>
                <c:pt idx="10">
                  <c:v>130.9</c:v>
                </c:pt>
                <c:pt idx="11">
                  <c:v>138.5</c:v>
                </c:pt>
                <c:pt idx="12">
                  <c:v>144</c:v>
                </c:pt>
                <c:pt idx="13">
                  <c:v>150</c:v>
                </c:pt>
                <c:pt idx="14">
                  <c:v>153.19999999999999</c:v>
                </c:pt>
                <c:pt idx="15">
                  <c:v>156.5</c:v>
                </c:pt>
                <c:pt idx="16">
                  <c:v>160</c:v>
                </c:pt>
                <c:pt idx="17">
                  <c:v>150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64D-437B-B1D8-8EB651B371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74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80"/>
          <c:min val="80"/>
        </c:scaling>
        <c:delete val="0"/>
        <c:axPos val="l"/>
        <c:majorGridlines>
          <c:spPr>
            <a:ln w="12700" cap="flat">
              <a:solidFill>
                <a:srgbClr val="DCE5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 transformación %</c:v>
                </c:pt>
              </c:strCache>
            </c:strRef>
          </c:tx>
          <c:spPr>
            <a:ln w="38100" cap="flat">
              <a:solidFill>
                <a:srgbClr val="3E7CB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E7CB1"/>
              </a:solidFill>
              <a:ln w="9525" cap="flat">
                <a:solidFill>
                  <a:srgbClr val="3E7CB1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2023-07</c:v>
                </c:pt>
                <c:pt idx="1">
                  <c:v>2023-08</c:v>
                </c:pt>
                <c:pt idx="2">
                  <c:v>2023-09</c:v>
                </c:pt>
                <c:pt idx="3">
                  <c:v>2023-10</c:v>
                </c:pt>
                <c:pt idx="4">
                  <c:v>2023-11</c:v>
                </c:pt>
                <c:pt idx="5">
                  <c:v>2023-12</c:v>
                </c:pt>
                <c:pt idx="6">
                  <c:v>2024-01</c:v>
                </c:pt>
                <c:pt idx="7">
                  <c:v>2024-02</c:v>
                </c:pt>
                <c:pt idx="8">
                  <c:v>2024-03</c:v>
                </c:pt>
                <c:pt idx="9">
                  <c:v>2024-04</c:v>
                </c:pt>
                <c:pt idx="10">
                  <c:v>2024-05</c:v>
                </c:pt>
                <c:pt idx="11">
                  <c:v>2024-06</c:v>
                </c:pt>
                <c:pt idx="12">
                  <c:v>2024-07</c:v>
                </c:pt>
                <c:pt idx="13">
                  <c:v>2024-08</c:v>
                </c:pt>
                <c:pt idx="14">
                  <c:v>2024-09</c:v>
                </c:pt>
                <c:pt idx="15">
                  <c:v>2024-10</c:v>
                </c:pt>
                <c:pt idx="16">
                  <c:v>2024-11</c:v>
                </c:pt>
                <c:pt idx="17">
                  <c:v>2025-01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-15</c:v>
                </c:pt>
                <c:pt idx="1">
                  <c:v>-14.5</c:v>
                </c:pt>
                <c:pt idx="2">
                  <c:v>-13.8</c:v>
                </c:pt>
                <c:pt idx="3">
                  <c:v>-12.5</c:v>
                </c:pt>
                <c:pt idx="4">
                  <c:v>-10.8</c:v>
                </c:pt>
                <c:pt idx="5">
                  <c:v>-8.5</c:v>
                </c:pt>
                <c:pt idx="6">
                  <c:v>-5.8</c:v>
                </c:pt>
                <c:pt idx="7">
                  <c:v>-2.5</c:v>
                </c:pt>
                <c:pt idx="8">
                  <c:v>1.2</c:v>
                </c:pt>
                <c:pt idx="9">
                  <c:v>5.2</c:v>
                </c:pt>
                <c:pt idx="10">
                  <c:v>8.5</c:v>
                </c:pt>
                <c:pt idx="11">
                  <c:v>10.8</c:v>
                </c:pt>
                <c:pt idx="12">
                  <c:v>11.5</c:v>
                </c:pt>
                <c:pt idx="13">
                  <c:v>11.2</c:v>
                </c:pt>
                <c:pt idx="14">
                  <c:v>10</c:v>
                </c:pt>
                <c:pt idx="15">
                  <c:v>8.5</c:v>
                </c:pt>
                <c:pt idx="16">
                  <c:v>7.5</c:v>
                </c:pt>
                <c:pt idx="17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366-4B19-8E9F-D3C521365C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74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"/>
          <c:min val="-20"/>
        </c:scaling>
        <c:delete val="0"/>
        <c:axPos val="l"/>
        <c:majorGridlines>
          <c:spPr>
            <a:ln w="12700" cap="flat">
              <a:solidFill>
                <a:srgbClr val="DCE5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Ahorro eficiencia MM</c:v>
                </c:pt>
              </c:strCache>
            </c:strRef>
          </c:tx>
          <c:spPr>
            <a:ln w="25400" cap="flat">
              <a:solidFill>
                <a:srgbClr val="2B6B5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B6B57"/>
              </a:solidFill>
              <a:ln w="9525" cap="flat">
                <a:solidFill>
                  <a:srgbClr val="2B6B57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2023-07</c:v>
                </c:pt>
                <c:pt idx="1">
                  <c:v>2023-08</c:v>
                </c:pt>
                <c:pt idx="2">
                  <c:v>2023-09</c:v>
                </c:pt>
                <c:pt idx="3">
                  <c:v>2023-10</c:v>
                </c:pt>
                <c:pt idx="4">
                  <c:v>2023-11</c:v>
                </c:pt>
                <c:pt idx="5">
                  <c:v>2023-12</c:v>
                </c:pt>
                <c:pt idx="6">
                  <c:v>2024-01</c:v>
                </c:pt>
                <c:pt idx="7">
                  <c:v>2024-02</c:v>
                </c:pt>
                <c:pt idx="8">
                  <c:v>2024-03</c:v>
                </c:pt>
                <c:pt idx="9">
                  <c:v>2024-04</c:v>
                </c:pt>
                <c:pt idx="10">
                  <c:v>2024-05</c:v>
                </c:pt>
                <c:pt idx="11">
                  <c:v>2024-06</c:v>
                </c:pt>
                <c:pt idx="12">
                  <c:v>2024-07</c:v>
                </c:pt>
                <c:pt idx="13">
                  <c:v>2024-08</c:v>
                </c:pt>
                <c:pt idx="14">
                  <c:v>2024-09</c:v>
                </c:pt>
                <c:pt idx="15">
                  <c:v>2024-10</c:v>
                </c:pt>
                <c:pt idx="16">
                  <c:v>2024-11</c:v>
                </c:pt>
                <c:pt idx="17">
                  <c:v>2025-01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0.02</c:v>
                </c:pt>
                <c:pt idx="2">
                  <c:v>0.05</c:v>
                </c:pt>
                <c:pt idx="3">
                  <c:v>0.08</c:v>
                </c:pt>
                <c:pt idx="4">
                  <c:v>0.12</c:v>
                </c:pt>
                <c:pt idx="5">
                  <c:v>0.18</c:v>
                </c:pt>
                <c:pt idx="6">
                  <c:v>0.25</c:v>
                </c:pt>
                <c:pt idx="7">
                  <c:v>0.35</c:v>
                </c:pt>
                <c:pt idx="8">
                  <c:v>0.48</c:v>
                </c:pt>
                <c:pt idx="9">
                  <c:v>0.64</c:v>
                </c:pt>
                <c:pt idx="10">
                  <c:v>0.85</c:v>
                </c:pt>
                <c:pt idx="11">
                  <c:v>1.1000000000000001</c:v>
                </c:pt>
                <c:pt idx="12">
                  <c:v>1.4</c:v>
                </c:pt>
                <c:pt idx="13">
                  <c:v>1.72</c:v>
                </c:pt>
                <c:pt idx="14">
                  <c:v>2.0499999999999998</c:v>
                </c:pt>
                <c:pt idx="15">
                  <c:v>2.38</c:v>
                </c:pt>
                <c:pt idx="16">
                  <c:v>2.68</c:v>
                </c:pt>
                <c:pt idx="17">
                  <c:v>1.9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09F-49C4-A268-F2CA23E524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55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5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Rotación</c:v>
                </c:pt>
              </c:strCache>
            </c:strRef>
          </c:tx>
          <c:spPr>
            <a:ln w="25400" cap="flat">
              <a:solidFill>
                <a:srgbClr val="2B6B5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B6B57"/>
              </a:solidFill>
              <a:ln w="9525" cap="flat">
                <a:solidFill>
                  <a:srgbClr val="2B6B57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2023-07</c:v>
                </c:pt>
                <c:pt idx="1">
                  <c:v>2023-08</c:v>
                </c:pt>
                <c:pt idx="2">
                  <c:v>2023-09</c:v>
                </c:pt>
                <c:pt idx="3">
                  <c:v>2023-10</c:v>
                </c:pt>
                <c:pt idx="4">
                  <c:v>2023-11</c:v>
                </c:pt>
                <c:pt idx="5">
                  <c:v>2023-12</c:v>
                </c:pt>
                <c:pt idx="6">
                  <c:v>2024-01</c:v>
                </c:pt>
                <c:pt idx="7">
                  <c:v>2024-02</c:v>
                </c:pt>
                <c:pt idx="8">
                  <c:v>2024-03</c:v>
                </c:pt>
                <c:pt idx="9">
                  <c:v>2024-04</c:v>
                </c:pt>
                <c:pt idx="10">
                  <c:v>2024-05</c:v>
                </c:pt>
                <c:pt idx="11">
                  <c:v>2024-06</c:v>
                </c:pt>
                <c:pt idx="12">
                  <c:v>2024-07</c:v>
                </c:pt>
                <c:pt idx="13">
                  <c:v>2024-08</c:v>
                </c:pt>
                <c:pt idx="14">
                  <c:v>2024-09</c:v>
                </c:pt>
                <c:pt idx="15">
                  <c:v>2024-10</c:v>
                </c:pt>
                <c:pt idx="16">
                  <c:v>2024-11</c:v>
                </c:pt>
                <c:pt idx="17">
                  <c:v>2025-01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100</c:v>
                </c:pt>
                <c:pt idx="1">
                  <c:v>102.5</c:v>
                </c:pt>
                <c:pt idx="2">
                  <c:v>105</c:v>
                </c:pt>
                <c:pt idx="3">
                  <c:v>108.7</c:v>
                </c:pt>
                <c:pt idx="4">
                  <c:v>112.5</c:v>
                </c:pt>
                <c:pt idx="5">
                  <c:v>116.3</c:v>
                </c:pt>
                <c:pt idx="6">
                  <c:v>120</c:v>
                </c:pt>
                <c:pt idx="7">
                  <c:v>125</c:v>
                </c:pt>
                <c:pt idx="8">
                  <c:v>130</c:v>
                </c:pt>
                <c:pt idx="9">
                  <c:v>135</c:v>
                </c:pt>
                <c:pt idx="10">
                  <c:v>140</c:v>
                </c:pt>
                <c:pt idx="11">
                  <c:v>146.30000000000001</c:v>
                </c:pt>
                <c:pt idx="12">
                  <c:v>152.5</c:v>
                </c:pt>
                <c:pt idx="13">
                  <c:v>158.80000000000001</c:v>
                </c:pt>
                <c:pt idx="14">
                  <c:v>165</c:v>
                </c:pt>
                <c:pt idx="15">
                  <c:v>171.3</c:v>
                </c:pt>
                <c:pt idx="16">
                  <c:v>178.8</c:v>
                </c:pt>
                <c:pt idx="17">
                  <c:v>187.5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259-4173-A750-9814DAFC98F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Horas extra</c:v>
                </c:pt>
              </c:strCache>
            </c:strRef>
          </c:tx>
          <c:spPr>
            <a:ln w="25400" cap="flat">
              <a:solidFill>
                <a:srgbClr val="3E7CB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E7CB1"/>
              </a:solidFill>
              <a:ln w="9525" cap="flat">
                <a:solidFill>
                  <a:srgbClr val="3E7CB1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2023-07</c:v>
                </c:pt>
                <c:pt idx="1">
                  <c:v>2023-08</c:v>
                </c:pt>
                <c:pt idx="2">
                  <c:v>2023-09</c:v>
                </c:pt>
                <c:pt idx="3">
                  <c:v>2023-10</c:v>
                </c:pt>
                <c:pt idx="4">
                  <c:v>2023-11</c:v>
                </c:pt>
                <c:pt idx="5">
                  <c:v>2023-12</c:v>
                </c:pt>
                <c:pt idx="6">
                  <c:v>2024-01</c:v>
                </c:pt>
                <c:pt idx="7">
                  <c:v>2024-02</c:v>
                </c:pt>
                <c:pt idx="8">
                  <c:v>2024-03</c:v>
                </c:pt>
                <c:pt idx="9">
                  <c:v>2024-04</c:v>
                </c:pt>
                <c:pt idx="10">
                  <c:v>2024-05</c:v>
                </c:pt>
                <c:pt idx="11">
                  <c:v>2024-06</c:v>
                </c:pt>
                <c:pt idx="12">
                  <c:v>2024-07</c:v>
                </c:pt>
                <c:pt idx="13">
                  <c:v>2024-08</c:v>
                </c:pt>
                <c:pt idx="14">
                  <c:v>2024-09</c:v>
                </c:pt>
                <c:pt idx="15">
                  <c:v>2024-10</c:v>
                </c:pt>
                <c:pt idx="16">
                  <c:v>2024-11</c:v>
                </c:pt>
                <c:pt idx="17">
                  <c:v>2025-01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100</c:v>
                </c:pt>
                <c:pt idx="1">
                  <c:v>104</c:v>
                </c:pt>
                <c:pt idx="2">
                  <c:v>108</c:v>
                </c:pt>
                <c:pt idx="3">
                  <c:v>114</c:v>
                </c:pt>
                <c:pt idx="4">
                  <c:v>120</c:v>
                </c:pt>
                <c:pt idx="5">
                  <c:v>128</c:v>
                </c:pt>
                <c:pt idx="6">
                  <c:v>136</c:v>
                </c:pt>
                <c:pt idx="7">
                  <c:v>146</c:v>
                </c:pt>
                <c:pt idx="8">
                  <c:v>158</c:v>
                </c:pt>
                <c:pt idx="9">
                  <c:v>170</c:v>
                </c:pt>
                <c:pt idx="10">
                  <c:v>184</c:v>
                </c:pt>
                <c:pt idx="11">
                  <c:v>200</c:v>
                </c:pt>
                <c:pt idx="12">
                  <c:v>216</c:v>
                </c:pt>
                <c:pt idx="13">
                  <c:v>230</c:v>
                </c:pt>
                <c:pt idx="14">
                  <c:v>244</c:v>
                </c:pt>
                <c:pt idx="15">
                  <c:v>256</c:v>
                </c:pt>
                <c:pt idx="16">
                  <c:v>264</c:v>
                </c:pt>
                <c:pt idx="17">
                  <c:v>240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259-4173-A750-9814DAFC98F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Vacantes tech</c:v>
                </c:pt>
              </c:strCache>
            </c:strRef>
          </c:tx>
          <c:spPr>
            <a:ln w="25400" cap="flat">
              <a:solidFill>
                <a:srgbClr val="E8A13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A13A"/>
              </a:solidFill>
              <a:ln w="9525" cap="flat">
                <a:solidFill>
                  <a:srgbClr val="E8A13A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2023-07</c:v>
                </c:pt>
                <c:pt idx="1">
                  <c:v>2023-08</c:v>
                </c:pt>
                <c:pt idx="2">
                  <c:v>2023-09</c:v>
                </c:pt>
                <c:pt idx="3">
                  <c:v>2023-10</c:v>
                </c:pt>
                <c:pt idx="4">
                  <c:v>2023-11</c:v>
                </c:pt>
                <c:pt idx="5">
                  <c:v>2023-12</c:v>
                </c:pt>
                <c:pt idx="6">
                  <c:v>2024-01</c:v>
                </c:pt>
                <c:pt idx="7">
                  <c:v>2024-02</c:v>
                </c:pt>
                <c:pt idx="8">
                  <c:v>2024-03</c:v>
                </c:pt>
                <c:pt idx="9">
                  <c:v>2024-04</c:v>
                </c:pt>
                <c:pt idx="10">
                  <c:v>2024-05</c:v>
                </c:pt>
                <c:pt idx="11">
                  <c:v>2024-06</c:v>
                </c:pt>
                <c:pt idx="12">
                  <c:v>2024-07</c:v>
                </c:pt>
                <c:pt idx="13">
                  <c:v>2024-08</c:v>
                </c:pt>
                <c:pt idx="14">
                  <c:v>2024-09</c:v>
                </c:pt>
                <c:pt idx="15">
                  <c:v>2024-10</c:v>
                </c:pt>
                <c:pt idx="16">
                  <c:v>2024-11</c:v>
                </c:pt>
                <c:pt idx="17">
                  <c:v>2025-01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100</c:v>
                </c:pt>
                <c:pt idx="1">
                  <c:v>100</c:v>
                </c:pt>
                <c:pt idx="2">
                  <c:v>150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500</c:v>
                </c:pt>
                <c:pt idx="10">
                  <c:v>550</c:v>
                </c:pt>
                <c:pt idx="11">
                  <c:v>650</c:v>
                </c:pt>
                <c:pt idx="12">
                  <c:v>750</c:v>
                </c:pt>
                <c:pt idx="13">
                  <c:v>800</c:v>
                </c:pt>
                <c:pt idx="14">
                  <c:v>850</c:v>
                </c:pt>
                <c:pt idx="15">
                  <c:v>900</c:v>
                </c:pt>
                <c:pt idx="16">
                  <c:v>950</c:v>
                </c:pt>
                <c:pt idx="17">
                  <c:v>900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259-4173-A750-9814DAFC98F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Satisfacción</c:v>
                </c:pt>
              </c:strCache>
            </c:strRef>
          </c:tx>
          <c:spPr>
            <a:ln w="25400" cap="flat">
              <a:solidFill>
                <a:srgbClr val="B65B5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65B5B"/>
              </a:solidFill>
              <a:ln w="9525" cap="flat">
                <a:solidFill>
                  <a:srgbClr val="B65B5B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2023-07</c:v>
                </c:pt>
                <c:pt idx="1">
                  <c:v>2023-08</c:v>
                </c:pt>
                <c:pt idx="2">
                  <c:v>2023-09</c:v>
                </c:pt>
                <c:pt idx="3">
                  <c:v>2023-10</c:v>
                </c:pt>
                <c:pt idx="4">
                  <c:v>2023-11</c:v>
                </c:pt>
                <c:pt idx="5">
                  <c:v>2023-12</c:v>
                </c:pt>
                <c:pt idx="6">
                  <c:v>2024-01</c:v>
                </c:pt>
                <c:pt idx="7">
                  <c:v>2024-02</c:v>
                </c:pt>
                <c:pt idx="8">
                  <c:v>2024-03</c:v>
                </c:pt>
                <c:pt idx="9">
                  <c:v>2024-04</c:v>
                </c:pt>
                <c:pt idx="10">
                  <c:v>2024-05</c:v>
                </c:pt>
                <c:pt idx="11">
                  <c:v>2024-06</c:v>
                </c:pt>
                <c:pt idx="12">
                  <c:v>2024-07</c:v>
                </c:pt>
                <c:pt idx="13">
                  <c:v>2024-08</c:v>
                </c:pt>
                <c:pt idx="14">
                  <c:v>2024-09</c:v>
                </c:pt>
                <c:pt idx="15">
                  <c:v>2024-10</c:v>
                </c:pt>
                <c:pt idx="16">
                  <c:v>2024-11</c:v>
                </c:pt>
                <c:pt idx="17">
                  <c:v>2025-01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100</c:v>
                </c:pt>
                <c:pt idx="1">
                  <c:v>98.5</c:v>
                </c:pt>
                <c:pt idx="2">
                  <c:v>98.5</c:v>
                </c:pt>
                <c:pt idx="3">
                  <c:v>97.1</c:v>
                </c:pt>
                <c:pt idx="4">
                  <c:v>97.1</c:v>
                </c:pt>
                <c:pt idx="5">
                  <c:v>95.6</c:v>
                </c:pt>
                <c:pt idx="6">
                  <c:v>94.1</c:v>
                </c:pt>
                <c:pt idx="7">
                  <c:v>92.6</c:v>
                </c:pt>
                <c:pt idx="8">
                  <c:v>91.2</c:v>
                </c:pt>
                <c:pt idx="9">
                  <c:v>89.7</c:v>
                </c:pt>
                <c:pt idx="10">
                  <c:v>88.2</c:v>
                </c:pt>
                <c:pt idx="11">
                  <c:v>86.8</c:v>
                </c:pt>
                <c:pt idx="12">
                  <c:v>85.3</c:v>
                </c:pt>
                <c:pt idx="13">
                  <c:v>83.8</c:v>
                </c:pt>
                <c:pt idx="14">
                  <c:v>83.8</c:v>
                </c:pt>
                <c:pt idx="15">
                  <c:v>82.4</c:v>
                </c:pt>
                <c:pt idx="16">
                  <c:v>82.4</c:v>
                </c:pt>
                <c:pt idx="17">
                  <c:v>85.3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259-4173-A750-9814DAFC98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74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0"/>
          <c:min val="50"/>
        </c:scaling>
        <c:delete val="0"/>
        <c:axPos val="l"/>
        <c:majorGridlines>
          <c:spPr>
            <a:ln w="12700" cap="flat">
              <a:solidFill>
                <a:srgbClr val="DCE5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Capacitados %</c:v>
                </c:pt>
              </c:strCache>
            </c:strRef>
          </c:tx>
          <c:spPr>
            <a:ln w="25400" cap="flat">
              <a:solidFill>
                <a:srgbClr val="2B6B5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B6B57"/>
              </a:solidFill>
              <a:ln w="9525" cap="flat">
                <a:solidFill>
                  <a:srgbClr val="2B6B57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2023-07</c:v>
                </c:pt>
                <c:pt idx="1">
                  <c:v>2023-08</c:v>
                </c:pt>
                <c:pt idx="2">
                  <c:v>2023-09</c:v>
                </c:pt>
                <c:pt idx="3">
                  <c:v>2023-10</c:v>
                </c:pt>
                <c:pt idx="4">
                  <c:v>2023-11</c:v>
                </c:pt>
                <c:pt idx="5">
                  <c:v>2023-12</c:v>
                </c:pt>
                <c:pt idx="6">
                  <c:v>2024-01</c:v>
                </c:pt>
                <c:pt idx="7">
                  <c:v>2024-02</c:v>
                </c:pt>
                <c:pt idx="8">
                  <c:v>2024-03</c:v>
                </c:pt>
                <c:pt idx="9">
                  <c:v>2024-04</c:v>
                </c:pt>
                <c:pt idx="10">
                  <c:v>2024-05</c:v>
                </c:pt>
                <c:pt idx="11">
                  <c:v>2024-06</c:v>
                </c:pt>
                <c:pt idx="12">
                  <c:v>2024-07</c:v>
                </c:pt>
                <c:pt idx="13">
                  <c:v>2024-08</c:v>
                </c:pt>
                <c:pt idx="14">
                  <c:v>2024-09</c:v>
                </c:pt>
                <c:pt idx="15">
                  <c:v>2024-10</c:v>
                </c:pt>
                <c:pt idx="16">
                  <c:v>2024-11</c:v>
                </c:pt>
                <c:pt idx="17">
                  <c:v>2025-01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2.5</c:v>
                </c:pt>
                <c:pt idx="2">
                  <c:v>5.8</c:v>
                </c:pt>
                <c:pt idx="3">
                  <c:v>10.199999999999999</c:v>
                </c:pt>
                <c:pt idx="4">
                  <c:v>16.5</c:v>
                </c:pt>
                <c:pt idx="5">
                  <c:v>24.8</c:v>
                </c:pt>
                <c:pt idx="6">
                  <c:v>35.200000000000003</c:v>
                </c:pt>
                <c:pt idx="7">
                  <c:v>47.5</c:v>
                </c:pt>
                <c:pt idx="8">
                  <c:v>60.8</c:v>
                </c:pt>
                <c:pt idx="9">
                  <c:v>74.2</c:v>
                </c:pt>
                <c:pt idx="10">
                  <c:v>85.5</c:v>
                </c:pt>
                <c:pt idx="11">
                  <c:v>92.8</c:v>
                </c:pt>
                <c:pt idx="12">
                  <c:v>96.5</c:v>
                </c:pt>
                <c:pt idx="13">
                  <c:v>98.2</c:v>
                </c:pt>
                <c:pt idx="14">
                  <c:v>99</c:v>
                </c:pt>
                <c:pt idx="15">
                  <c:v>99.3</c:v>
                </c:pt>
                <c:pt idx="16">
                  <c:v>99.5</c:v>
                </c:pt>
                <c:pt idx="17">
                  <c:v>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3C5-433D-A40C-6F75FAC6D8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Procesos digitalizados %</c:v>
                </c:pt>
              </c:strCache>
            </c:strRef>
          </c:tx>
          <c:spPr>
            <a:ln w="25400" cap="flat">
              <a:solidFill>
                <a:srgbClr val="3E7CB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E7CB1"/>
              </a:solidFill>
              <a:ln w="9525" cap="flat">
                <a:solidFill>
                  <a:srgbClr val="3E7CB1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2023-07</c:v>
                </c:pt>
                <c:pt idx="1">
                  <c:v>2023-08</c:v>
                </c:pt>
                <c:pt idx="2">
                  <c:v>2023-09</c:v>
                </c:pt>
                <c:pt idx="3">
                  <c:v>2023-10</c:v>
                </c:pt>
                <c:pt idx="4">
                  <c:v>2023-11</c:v>
                </c:pt>
                <c:pt idx="5">
                  <c:v>2023-12</c:v>
                </c:pt>
                <c:pt idx="6">
                  <c:v>2024-01</c:v>
                </c:pt>
                <c:pt idx="7">
                  <c:v>2024-02</c:v>
                </c:pt>
                <c:pt idx="8">
                  <c:v>2024-03</c:v>
                </c:pt>
                <c:pt idx="9">
                  <c:v>2024-04</c:v>
                </c:pt>
                <c:pt idx="10">
                  <c:v>2024-05</c:v>
                </c:pt>
                <c:pt idx="11">
                  <c:v>2024-06</c:v>
                </c:pt>
                <c:pt idx="12">
                  <c:v>2024-07</c:v>
                </c:pt>
                <c:pt idx="13">
                  <c:v>2024-08</c:v>
                </c:pt>
                <c:pt idx="14">
                  <c:v>2024-09</c:v>
                </c:pt>
                <c:pt idx="15">
                  <c:v>2024-10</c:v>
                </c:pt>
                <c:pt idx="16">
                  <c:v>2024-11</c:v>
                </c:pt>
                <c:pt idx="17">
                  <c:v>2025-01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15</c:v>
                </c:pt>
                <c:pt idx="1">
                  <c:v>16.8</c:v>
                </c:pt>
                <c:pt idx="2">
                  <c:v>19.2</c:v>
                </c:pt>
                <c:pt idx="3">
                  <c:v>22.5</c:v>
                </c:pt>
                <c:pt idx="4">
                  <c:v>26.8</c:v>
                </c:pt>
                <c:pt idx="5">
                  <c:v>32</c:v>
                </c:pt>
                <c:pt idx="6">
                  <c:v>38.200000000000003</c:v>
                </c:pt>
                <c:pt idx="7">
                  <c:v>45</c:v>
                </c:pt>
                <c:pt idx="8">
                  <c:v>52.5</c:v>
                </c:pt>
                <c:pt idx="9">
                  <c:v>60.5</c:v>
                </c:pt>
                <c:pt idx="10">
                  <c:v>68</c:v>
                </c:pt>
                <c:pt idx="11">
                  <c:v>74.2</c:v>
                </c:pt>
                <c:pt idx="12">
                  <c:v>78.8</c:v>
                </c:pt>
                <c:pt idx="13">
                  <c:v>81.8</c:v>
                </c:pt>
                <c:pt idx="14">
                  <c:v>84</c:v>
                </c:pt>
                <c:pt idx="15">
                  <c:v>85.5</c:v>
                </c:pt>
                <c:pt idx="16">
                  <c:v>86.5</c:v>
                </c:pt>
                <c:pt idx="17">
                  <c:v>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3C5-433D-A40C-6F75FAC6D81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Uso plataforma %</c:v>
                </c:pt>
              </c:strCache>
            </c:strRef>
          </c:tx>
          <c:spPr>
            <a:ln w="25400" cap="flat">
              <a:solidFill>
                <a:srgbClr val="E8A13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A13A"/>
              </a:solidFill>
              <a:ln w="9525" cap="flat">
                <a:solidFill>
                  <a:srgbClr val="E8A13A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2023-07</c:v>
                </c:pt>
                <c:pt idx="1">
                  <c:v>2023-08</c:v>
                </c:pt>
                <c:pt idx="2">
                  <c:v>2023-09</c:v>
                </c:pt>
                <c:pt idx="3">
                  <c:v>2023-10</c:v>
                </c:pt>
                <c:pt idx="4">
                  <c:v>2023-11</c:v>
                </c:pt>
                <c:pt idx="5">
                  <c:v>2023-12</c:v>
                </c:pt>
                <c:pt idx="6">
                  <c:v>2024-01</c:v>
                </c:pt>
                <c:pt idx="7">
                  <c:v>2024-02</c:v>
                </c:pt>
                <c:pt idx="8">
                  <c:v>2024-03</c:v>
                </c:pt>
                <c:pt idx="9">
                  <c:v>2024-04</c:v>
                </c:pt>
                <c:pt idx="10">
                  <c:v>2024-05</c:v>
                </c:pt>
                <c:pt idx="11">
                  <c:v>2024-06</c:v>
                </c:pt>
                <c:pt idx="12">
                  <c:v>2024-07</c:v>
                </c:pt>
                <c:pt idx="13">
                  <c:v>2024-08</c:v>
                </c:pt>
                <c:pt idx="14">
                  <c:v>2024-09</c:v>
                </c:pt>
                <c:pt idx="15">
                  <c:v>2024-10</c:v>
                </c:pt>
                <c:pt idx="16">
                  <c:v>2024-11</c:v>
                </c:pt>
                <c:pt idx="17">
                  <c:v>2025-01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1.2</c:v>
                </c:pt>
                <c:pt idx="2">
                  <c:v>3.5</c:v>
                </c:pt>
                <c:pt idx="3">
                  <c:v>6.8</c:v>
                </c:pt>
                <c:pt idx="4">
                  <c:v>11.2</c:v>
                </c:pt>
                <c:pt idx="5">
                  <c:v>17.5</c:v>
                </c:pt>
                <c:pt idx="6">
                  <c:v>25.8</c:v>
                </c:pt>
                <c:pt idx="7">
                  <c:v>35.5</c:v>
                </c:pt>
                <c:pt idx="8">
                  <c:v>46.8</c:v>
                </c:pt>
                <c:pt idx="9">
                  <c:v>58.2</c:v>
                </c:pt>
                <c:pt idx="10">
                  <c:v>68.5</c:v>
                </c:pt>
                <c:pt idx="11">
                  <c:v>76.8</c:v>
                </c:pt>
                <c:pt idx="12">
                  <c:v>82</c:v>
                </c:pt>
                <c:pt idx="13">
                  <c:v>85.5</c:v>
                </c:pt>
                <c:pt idx="14">
                  <c:v>87.2</c:v>
                </c:pt>
                <c:pt idx="15">
                  <c:v>88</c:v>
                </c:pt>
                <c:pt idx="16">
                  <c:v>88.5</c:v>
                </c:pt>
                <c:pt idx="17">
                  <c:v>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3C5-433D-A40C-6F75FAC6D8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74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5"/>
          <c:min val="0"/>
        </c:scaling>
        <c:delete val="0"/>
        <c:axPos val="l"/>
        <c:majorGridlines>
          <c:spPr>
            <a:ln w="12700" cap="flat">
              <a:solidFill>
                <a:srgbClr val="DCE5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1FE831-17C3-4AC5-ADDB-90433EEF7587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256883-2B42-4F6D-8401-3B9473BB3CF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71241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Apertura: conectar la decisión del CEO con el insight central. La presentación no busca vender optimismo, sino guiar una decisión ejecutiva equilibrada.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los KPIs de producción y calidad evolucionan en la dirección correcta. La base 100 permite comparar indicadores con unidades distintas.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la operación con el cliente. El aumento de NPS y recompra permite que el CEO vea impacto comercial, no sólo operativo.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ROI positivo no elimina el riesgo. Muestra que hay caso de negocio, pero requiere control para no perder retorno.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Aterrizar el riesgo. La recomendación final debe nacer de esta tensión: no detener, sino estabilizar y acompañar.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caída del cierre ayuda a justificar la propuesta de estabilización. No basta capacitar una vez; hay que sostener el 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recomendar continuar, pero con una etapa de estabilización. Reforzar que esta decisión es más segura que detener el programa o seguir sin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963" y="4869030"/>
            <a:ext cx="7152030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8202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77000"/>
            <a:ext cx="188595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4E61E97-987A-4B0C-AF63-C09F2CA1C6E8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1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1D5A83-5F8D-42DE-AD45-B6316BA1EBA1}" type="slidenum">
              <a:rPr lang="es-CL" smtClean="0"/>
              <a:t>‹Nº›</a:t>
            </a:fld>
            <a:endParaRPr lang="es-C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1FF2A-9DA0-DC5C-0C53-91FDE15093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4208E-B529-0934-86E0-24278D43C68A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705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526932-58BC-3B05-A619-8FE2BA7973DD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751EC6-9764-CDDF-E8BC-793AD483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A395EC9-5212-9F09-E9FA-0AB62AFB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61E97-987A-4B0C-AF63-C09F2CA1C6E8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6E48EB-E81D-8C6A-DBE6-738017E5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D5A83-5F8D-42DE-AD45-B6316BA1EB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8588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572000"/>
            <a:ext cx="11125201" cy="1112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715000"/>
            <a:ext cx="11125201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398176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t="-419" b="-41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10036" y="6476999"/>
            <a:ext cx="188054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E61E97-987A-4B0C-AF63-C09F2CA1C6E8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95976" y="6477000"/>
            <a:ext cx="66262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1D5A83-5F8D-42DE-AD45-B6316BA1EB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55109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6071" y="1016955"/>
            <a:ext cx="3872530" cy="3726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cap="all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6071" y="5134926"/>
            <a:ext cx="3868420" cy="1113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BE7EAD-CCCA-EA7C-0263-265AA3E43C5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224095" cy="6858000"/>
          </a:xfrm>
          <a:custGeom>
            <a:avLst/>
            <a:gdLst>
              <a:gd name="connsiteX0" fmla="*/ 0 w 7224095"/>
              <a:gd name="connsiteY0" fmla="*/ 629614 h 6858000"/>
              <a:gd name="connsiteX1" fmla="*/ 7224095 w 7224095"/>
              <a:gd name="connsiteY1" fmla="*/ 629614 h 6858000"/>
              <a:gd name="connsiteX2" fmla="*/ 7224095 w 7224095"/>
              <a:gd name="connsiteY2" fmla="*/ 6858000 h 6858000"/>
              <a:gd name="connsiteX3" fmla="*/ 0 w 7224095"/>
              <a:gd name="connsiteY3" fmla="*/ 6858000 h 6858000"/>
              <a:gd name="connsiteX4" fmla="*/ 0 w 7224095"/>
              <a:gd name="connsiteY4" fmla="*/ 0 h 6858000"/>
              <a:gd name="connsiteX5" fmla="*/ 7224095 w 7224095"/>
              <a:gd name="connsiteY5" fmla="*/ 0 h 6858000"/>
              <a:gd name="connsiteX6" fmla="*/ 7224095 w 7224095"/>
              <a:gd name="connsiteY6" fmla="*/ 565606 h 6858000"/>
              <a:gd name="connsiteX7" fmla="*/ 0 w 7224095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24095" h="6858000">
                <a:moveTo>
                  <a:pt x="0" y="629614"/>
                </a:moveTo>
                <a:lnTo>
                  <a:pt x="7224095" y="629614"/>
                </a:lnTo>
                <a:lnTo>
                  <a:pt x="7224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7224095" y="0"/>
                </a:lnTo>
                <a:lnTo>
                  <a:pt x="7224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67937" y="6476999"/>
            <a:ext cx="189584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2" y="6476999"/>
            <a:ext cx="93759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4E61E97-987A-4B0C-AF63-C09F2CA1C6E8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77000"/>
            <a:ext cx="65722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1D5A83-5F8D-42DE-AD45-B6316BA1EBA1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9DE85-4541-95AA-B871-7CBAD2BA1550}"/>
              </a:ext>
            </a:extLst>
          </p:cNvPr>
          <p:cNvSpPr/>
          <p:nvPr/>
        </p:nvSpPr>
        <p:spPr>
          <a:xfrm>
            <a:off x="0" y="565606"/>
            <a:ext cx="1155797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751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3400" y="1143000"/>
            <a:ext cx="8576636" cy="527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cap="all" baseline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92240"/>
            <a:ext cx="18913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4E61E97-987A-4B0C-AF63-C09F2CA1C6E8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81D5A83-5F8D-42DE-AD45-B6316BA1EBA1}" type="slidenum">
              <a:rPr lang="es-CL" smtClean="0"/>
              <a:t>‹Nº›</a:t>
            </a:fld>
            <a:endParaRPr lang="es-C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F1B314-6B95-45EC-8168-CEA297F1BD40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E8A7FA-CBEB-E74B-AC79-5D830DAFC993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250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AE97C67-C2EB-5515-0FDC-A535220C9DF0}"/>
              </a:ext>
            </a:extLst>
          </p:cNvPr>
          <p:cNvSpPr/>
          <p:nvPr/>
        </p:nvSpPr>
        <p:spPr>
          <a:xfrm>
            <a:off x="9110035" y="0"/>
            <a:ext cx="30819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1016955"/>
            <a:ext cx="8195646" cy="1127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6858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 marL="12573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575848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91885" y="6492240"/>
            <a:ext cx="176399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E61E97-987A-4B0C-AF63-C09F2CA1C6E8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1271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1D5A83-5F8D-42DE-AD45-B6316BA1EBA1}" type="slidenum">
              <a:rPr lang="es-CL" smtClean="0"/>
              <a:t>‹Nº›</a:t>
            </a:fld>
            <a:endParaRPr lang="es-C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8CA726-6257-4F3F-9296-A3CF5DCA19DB}"/>
              </a:ext>
            </a:extLst>
          </p:cNvPr>
          <p:cNvSpPr/>
          <p:nvPr/>
        </p:nvSpPr>
        <p:spPr>
          <a:xfrm>
            <a:off x="634029" y="2144714"/>
            <a:ext cx="8476007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713386-53DE-AEBA-6318-6C7146DE2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3517" y="1386842"/>
            <a:ext cx="6315083" cy="1127758"/>
          </a:xfrm>
        </p:spPr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440984A-B82C-18F1-2933-6DF295884C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0055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315082" cy="333691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5715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3518" y="6477000"/>
            <a:ext cx="3771905" cy="381001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0821" y="6477000"/>
            <a:ext cx="1875160" cy="381001"/>
          </a:xfrm>
          <a:prstGeom prst="rect">
            <a:avLst/>
          </a:prstGeom>
        </p:spPr>
        <p:txBody>
          <a:bodyPr/>
          <a:lstStyle/>
          <a:p>
            <a:fld id="{24E61E97-987A-4B0C-AF63-C09F2CA1C6E8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86" y="6477000"/>
            <a:ext cx="662614" cy="381001"/>
          </a:xfrm>
          <a:prstGeom prst="rect">
            <a:avLst/>
          </a:prstGeom>
        </p:spPr>
        <p:txBody>
          <a:bodyPr/>
          <a:lstStyle/>
          <a:p>
            <a:fld id="{D81D5A83-5F8D-42DE-AD45-B6316BA1EBA1}" type="slidenum">
              <a:rPr lang="es-CL" smtClean="0"/>
              <a:t>‹Nº›</a:t>
            </a:fld>
            <a:endParaRPr lang="es-C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E5CA23-2176-4B29-AB27-EDD9AC417271}"/>
              </a:ext>
            </a:extLst>
          </p:cNvPr>
          <p:cNvSpPr/>
          <p:nvPr/>
        </p:nvSpPr>
        <p:spPr>
          <a:xfrm>
            <a:off x="4400554" y="2496190"/>
            <a:ext cx="779144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985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91539" cy="4083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3" cy="40835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24E61E97-987A-4B0C-AF63-C09F2CA1C6E8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D81D5A83-5F8D-42DE-AD45-B6316BA1EBA1}" type="slidenum">
              <a:rPr lang="es-CL" smtClean="0"/>
              <a:t>‹Nº›</a:t>
            </a:fld>
            <a:endParaRPr lang="es-C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E531BB-71E1-57EF-0879-5979B0C95458}"/>
              </a:ext>
            </a:extLst>
          </p:cNvPr>
          <p:cNvSpPr/>
          <p:nvPr/>
        </p:nvSpPr>
        <p:spPr>
          <a:xfrm>
            <a:off x="4024938" y="570037"/>
            <a:ext cx="8167062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FD272-0797-A5C1-BAB9-E68F518B8158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33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48615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latin typeface="+mj-lt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4" cy="5490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24E61E97-987A-4B0C-AF63-C09F2CA1C6E8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D81D5A83-5F8D-42DE-AD45-B6316BA1EBA1}" type="slidenum">
              <a:rPr lang="es-CL" smtClean="0"/>
              <a:t>‹Nº›</a:t>
            </a:fld>
            <a:endParaRPr lang="es-C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22775-D819-CE59-81DF-9A22F9309472}"/>
              </a:ext>
            </a:extLst>
          </p:cNvPr>
          <p:cNvSpPr/>
          <p:nvPr/>
        </p:nvSpPr>
        <p:spPr>
          <a:xfrm>
            <a:off x="4017310" y="565607"/>
            <a:ext cx="817469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D59CA-78A2-7B8F-A9C7-E86B47BEAE5E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28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3" y="1016956"/>
            <a:ext cx="6696076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9EF452C-FB1E-E93B-DCC5-1D98DE0179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400554" cy="6858000"/>
          </a:xfrm>
          <a:custGeom>
            <a:avLst/>
            <a:gdLst>
              <a:gd name="connsiteX0" fmla="*/ 0 w 4400554"/>
              <a:gd name="connsiteY0" fmla="*/ 634999 h 6858000"/>
              <a:gd name="connsiteX1" fmla="*/ 4400554 w 4400554"/>
              <a:gd name="connsiteY1" fmla="*/ 634999 h 6858000"/>
              <a:gd name="connsiteX2" fmla="*/ 4400554 w 4400554"/>
              <a:gd name="connsiteY2" fmla="*/ 6858000 h 6858000"/>
              <a:gd name="connsiteX3" fmla="*/ 0 w 4400554"/>
              <a:gd name="connsiteY3" fmla="*/ 6858000 h 6858000"/>
              <a:gd name="connsiteX4" fmla="*/ 0 w 4400554"/>
              <a:gd name="connsiteY4" fmla="*/ 0 h 6858000"/>
              <a:gd name="connsiteX5" fmla="*/ 4400554 w 4400554"/>
              <a:gd name="connsiteY5" fmla="*/ 0 h 6858000"/>
              <a:gd name="connsiteX6" fmla="*/ 4400554 w 4400554"/>
              <a:gd name="connsiteY6" fmla="*/ 570991 h 6858000"/>
              <a:gd name="connsiteX7" fmla="*/ 0 w 4400554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3" y="2145668"/>
            <a:ext cx="6689892" cy="41183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64103" y="6477000"/>
            <a:ext cx="470790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72013" y="6477000"/>
            <a:ext cx="132936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E61E97-987A-4B0C-AF63-C09F2CA1C6E8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77000"/>
            <a:ext cx="65722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1D5A83-5F8D-42DE-AD45-B6316BA1EBA1}" type="slidenum">
              <a:rPr lang="es-CL" smtClean="0"/>
              <a:t>‹Nº›</a:t>
            </a:fld>
            <a:endParaRPr lang="es-CL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C16BEA9-7D3A-E34B-4442-F0BFB853F3F8}"/>
              </a:ext>
            </a:extLst>
          </p:cNvPr>
          <p:cNvSpPr/>
          <p:nvPr/>
        </p:nvSpPr>
        <p:spPr>
          <a:xfrm>
            <a:off x="4408228" y="570993"/>
            <a:ext cx="7142064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62211-E1BA-E90A-00F8-E717C7293E42}"/>
              </a:ext>
            </a:extLst>
          </p:cNvPr>
          <p:cNvSpPr/>
          <p:nvPr/>
        </p:nvSpPr>
        <p:spPr>
          <a:xfrm>
            <a:off x="-2282" y="570991"/>
            <a:ext cx="441051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497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3" y="1016955"/>
            <a:ext cx="7026437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7476243-EB8F-9EFF-F789-0088ABBB0F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2145668"/>
            <a:ext cx="7026432" cy="40773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7" y="6477000"/>
            <a:ext cx="542623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4" y="6477000"/>
            <a:ext cx="94297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E61E97-987A-4B0C-AF63-C09F2CA1C6E8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4" y="6477000"/>
            <a:ext cx="65722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1D5A83-5F8D-42DE-AD45-B6316BA1EBA1}" type="slidenum">
              <a:rPr lang="es-CL" smtClean="0"/>
              <a:t>‹Nº›</a:t>
            </a:fld>
            <a:endParaRPr lang="es-CL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CF4FA5C-D406-8202-9143-DAEA62C5C872}"/>
              </a:ext>
            </a:extLst>
          </p:cNvPr>
          <p:cNvSpPr/>
          <p:nvPr/>
        </p:nvSpPr>
        <p:spPr>
          <a:xfrm>
            <a:off x="0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82645EB-0315-BBF0-B28C-6A31158DE8D1}"/>
              </a:ext>
            </a:extLst>
          </p:cNvPr>
          <p:cNvSpPr/>
          <p:nvPr/>
        </p:nvSpPr>
        <p:spPr>
          <a:xfrm>
            <a:off x="3997235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7947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6858000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145668"/>
            <a:ext cx="6858000" cy="40935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1" y="6464300"/>
            <a:ext cx="5366715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0115" y="6464300"/>
            <a:ext cx="929303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E61E97-987A-4B0C-AF63-C09F2CA1C6E8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29424" y="6464300"/>
            <a:ext cx="561977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1D5A83-5F8D-42DE-AD45-B6316BA1EBA1}" type="slidenum">
              <a:rPr lang="es-CL" smtClean="0"/>
              <a:t>‹Nº›</a:t>
            </a:fld>
            <a:endParaRPr lang="es-CL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70CE66A-15FE-D8FB-D711-D3BB0755F0D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93866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19B021D-A5A3-D515-C491-988160E0708C}"/>
              </a:ext>
            </a:extLst>
          </p:cNvPr>
          <p:cNvSpPr/>
          <p:nvPr/>
        </p:nvSpPr>
        <p:spPr>
          <a:xfrm>
            <a:off x="8172447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6879252-7B61-583A-CF4D-92BF27416ADC}"/>
              </a:ext>
            </a:extLst>
          </p:cNvPr>
          <p:cNvSpPr/>
          <p:nvPr/>
        </p:nvSpPr>
        <p:spPr>
          <a:xfrm>
            <a:off x="633137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81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4573438" cy="13289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495232"/>
            <a:ext cx="4573438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292155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s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4946" y="6477000"/>
            <a:ext cx="110099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E61E97-987A-4B0C-AF63-C09F2CA1C6E8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53312" y="6477000"/>
            <a:ext cx="55225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81D5A83-5F8D-42DE-AD45-B6316BA1EBA1}" type="slidenum">
              <a:rPr lang="es-CL" smtClean="0"/>
              <a:t>‹Nº›</a:t>
            </a:fld>
            <a:endParaRPr lang="es-CL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03B3571-8BEB-7B5F-5141-60BE7E4F2B98}"/>
              </a:ext>
            </a:extLst>
          </p:cNvPr>
          <p:cNvSpPr/>
          <p:nvPr/>
        </p:nvSpPr>
        <p:spPr>
          <a:xfrm>
            <a:off x="631405" y="570990"/>
            <a:ext cx="502489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6698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75" y="1016955"/>
            <a:ext cx="3445936" cy="13289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056A831-274A-4E01-51DC-29FC50834A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33400" y="2495232"/>
            <a:ext cx="3445936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207677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10177" y="6477000"/>
            <a:ext cx="94976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E61E97-987A-4B0C-AF63-C09F2CA1C6E8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9943" y="6477000"/>
            <a:ext cx="42920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1D5A83-5F8D-42DE-AD45-B6316BA1EBA1}" type="slidenum">
              <a:rPr lang="es-CL" smtClean="0"/>
              <a:t>‹Nº›</a:t>
            </a:fld>
            <a:endParaRPr lang="es-CL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0BBEF0D8-DF37-CB82-D6FC-4B18E864B26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2979" y="0"/>
            <a:ext cx="758414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DC2254B-5D42-9D5B-16C8-9FAF562F458A}"/>
              </a:ext>
            </a:extLst>
          </p:cNvPr>
          <p:cNvSpPr/>
          <p:nvPr/>
        </p:nvSpPr>
        <p:spPr>
          <a:xfrm>
            <a:off x="615697" y="570989"/>
            <a:ext cx="3987282" cy="64012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5563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769544" cy="284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477000"/>
            <a:ext cx="140446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477000"/>
            <a:ext cx="70885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4E61E97-987A-4B0C-AF63-C09F2CA1C6E8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80" y="6477000"/>
            <a:ext cx="65722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1D5A83-5F8D-42DE-AD45-B6316BA1EBA1}" type="slidenum">
              <a:rPr lang="es-CL" smtClean="0"/>
              <a:t>‹Nº›</a:t>
            </a:fld>
            <a:endParaRPr lang="es-CL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AEE3D4D-61F7-E7A0-0EB4-DE705A2CAF60}"/>
              </a:ext>
            </a:extLst>
          </p:cNvPr>
          <p:cNvSpPr/>
          <p:nvPr/>
        </p:nvSpPr>
        <p:spPr>
          <a:xfrm>
            <a:off x="8326322" y="570989"/>
            <a:ext cx="3332277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120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23948"/>
            <a:ext cx="3486152" cy="25990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24294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3623949"/>
            <a:ext cx="7252664" cy="259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E61E97-987A-4B0C-AF63-C09F2CA1C6E8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1D5A83-5F8D-42DE-AD45-B6316BA1EB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174482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11125199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6" name="Picture Placeholder 11">
            <a:extLst>
              <a:ext uri="{FF2B5EF4-FFF2-40B4-BE49-F238E27FC236}">
                <a16:creationId xmlns:a16="http://schemas.microsoft.com/office/drawing/2014/main" id="{61ACD7CC-7A35-CC8D-F7DA-128B795065B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2145668"/>
            <a:ext cx="6291878" cy="472852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145668"/>
            <a:ext cx="4815505" cy="41904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5" y="6492240"/>
            <a:ext cx="321529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398" y="6492240"/>
            <a:ext cx="94298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E61E97-987A-4B0C-AF63-C09F2CA1C6E8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92240"/>
            <a:ext cx="65722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1D5A83-5F8D-42DE-AD45-B6316BA1EBA1}" type="slidenum">
              <a:rPr lang="es-CL" smtClean="0"/>
              <a:t>‹Nº›</a:t>
            </a:fld>
            <a:endParaRPr lang="es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35081-FA52-F16F-A616-E20DA766DB57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950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86153" cy="131634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30" y="2495233"/>
            <a:ext cx="3385517" cy="3727765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6142" y="1016954"/>
            <a:ext cx="7082457" cy="52060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E61E97-987A-4B0C-AF63-C09F2CA1C6E8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1D5A83-5F8D-42DE-AD45-B6316BA1EBA1}" type="slidenum">
              <a:rPr lang="es-CL" smtClean="0"/>
              <a:t>‹Nº›</a:t>
            </a:fld>
            <a:endParaRPr lang="es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A24FE-7F15-0A35-2050-28F4CE33B91F}"/>
              </a:ext>
            </a:extLst>
          </p:cNvPr>
          <p:cNvSpPr/>
          <p:nvPr/>
        </p:nvSpPr>
        <p:spPr>
          <a:xfrm>
            <a:off x="634030" y="565606"/>
            <a:ext cx="338552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E0A62-7502-AFE4-4860-6DE00EB6D1D5}"/>
              </a:ext>
            </a:extLst>
          </p:cNvPr>
          <p:cNvSpPr/>
          <p:nvPr/>
        </p:nvSpPr>
        <p:spPr>
          <a:xfrm>
            <a:off x="4019547" y="565605"/>
            <a:ext cx="8172453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2599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473C94E-2C8E-3F68-4792-D2F9DD86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961" y="5109525"/>
            <a:ext cx="8195638" cy="744634"/>
          </a:xfrm>
        </p:spPr>
        <p:txBody>
          <a:bodyPr anchor="b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E6EBA2-EEB8-DB5B-897E-6DAE1530B3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3400" y="533400"/>
            <a:ext cx="11125200" cy="4576763"/>
          </a:xfrm>
        </p:spPr>
        <p:txBody>
          <a:bodyPr>
            <a:normAutofit/>
          </a:bodyPr>
          <a:lstStyle>
            <a:lvl1pPr marL="0" indent="0">
              <a:buNone/>
              <a:defRPr sz="3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8054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4E61E97-987A-4B0C-AF63-C09F2CA1C6E8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1D5A83-5F8D-42DE-AD45-B6316BA1EBA1}" type="slidenum">
              <a:rPr lang="es-CL" smtClean="0"/>
              <a:t>‹Nº›</a:t>
            </a:fld>
            <a:endParaRPr lang="es-CL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9F1A0-57DB-F034-0AB9-2E671ABA4C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B7340E-9893-2D44-91EA-76771EE522E6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237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9" y="1016955"/>
            <a:ext cx="11125201" cy="484028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0"/>
            <a:ext cx="8576637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s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39"/>
            <a:ext cx="1891338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4E61E97-987A-4B0C-AF63-C09F2CA1C6E8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0"/>
            <a:ext cx="662624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81D5A83-5F8D-42DE-AD45-B6316BA1EBA1}" type="slidenum">
              <a:rPr lang="es-CL" smtClean="0"/>
              <a:t>‹Nº›</a:t>
            </a:fld>
            <a:endParaRPr lang="es-C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0F272-8DCB-3D9F-8EA6-FBDD6B7DFDA3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38ED97-EB88-D071-C45A-D0C32569D40D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2417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745" y="5216204"/>
            <a:ext cx="8190855" cy="6400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8" y="1016954"/>
            <a:ext cx="11125201" cy="3711571"/>
          </a:xfrm>
          <a:prstGeom prst="rect">
            <a:avLst/>
          </a:prstGeo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7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61" cy="365760"/>
          </a:xfrm>
          <a:prstGeom prst="rect">
            <a:avLst/>
          </a:prstGeom>
        </p:spPr>
        <p:txBody>
          <a:bodyPr/>
          <a:lstStyle/>
          <a:p>
            <a:fld id="{24E61E97-987A-4B0C-AF63-C09F2CA1C6E8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68" y="6492241"/>
            <a:ext cx="657231" cy="365760"/>
          </a:xfrm>
          <a:prstGeom prst="rect">
            <a:avLst/>
          </a:prstGeom>
        </p:spPr>
        <p:txBody>
          <a:bodyPr/>
          <a:lstStyle/>
          <a:p>
            <a:fld id="{D81D5A83-5F8D-42DE-AD45-B6316BA1EBA1}" type="slidenum">
              <a:rPr lang="es-CL" smtClean="0"/>
              <a:t>‹Nº›</a:t>
            </a:fld>
            <a:endParaRPr lang="es-C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2AFB11-60F0-1BFB-3EE2-25A317606ED4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B6C2DA-9756-1101-616C-92AE71300FD8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827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objetos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6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7" name="Content Placeholder 5">
            <a:extLst>
              <a:ext uri="{FF2B5EF4-FFF2-40B4-BE49-F238E27FC236}">
                <a16:creationId xmlns:a16="http://schemas.microsoft.com/office/drawing/2014/main" id="{2D30AC1E-99F3-1176-72D1-F6FF258E307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1883248"/>
            <a:ext cx="5075238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38" name="Content Placeholder 11">
            <a:extLst>
              <a:ext uri="{FF2B5EF4-FFF2-40B4-BE49-F238E27FC236}">
                <a16:creationId xmlns:a16="http://schemas.microsoft.com/office/drawing/2014/main" id="{54CE6F64-34A4-5E4B-21B9-E65B60D60DF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1883248"/>
            <a:ext cx="5075556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24E61E97-987A-4B0C-AF63-C09F2CA1C6E8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39"/>
            <a:ext cx="662624" cy="365761"/>
          </a:xfrm>
          <a:prstGeom prst="rect">
            <a:avLst/>
          </a:prstGeom>
        </p:spPr>
        <p:txBody>
          <a:bodyPr/>
          <a:lstStyle/>
          <a:p>
            <a:fld id="{D81D5A83-5F8D-42DE-AD45-B6316BA1EBA1}" type="slidenum">
              <a:rPr lang="es-CL" smtClean="0"/>
              <a:t>‹Nº›</a:t>
            </a:fld>
            <a:endParaRPr lang="es-C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DF6D21-8591-4FB9-5FF0-44B10800DC79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345B5-8AF1-C46D-5FB8-FF298EC5943D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837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883248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2444434"/>
            <a:ext cx="5075238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79" y="1883247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2444434"/>
            <a:ext cx="5075556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24E61E97-987A-4B0C-AF63-C09F2CA1C6E8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D81D5A83-5F8D-42DE-AD45-B6316BA1EBA1}" type="slidenum">
              <a:rPr lang="es-CL" smtClean="0"/>
              <a:t>‹Nº›</a:t>
            </a:fld>
            <a:endParaRPr lang="es-CL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0A7ECD-2835-13DC-1392-DC6E9D6B14EE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FF6D6A-BF5E-8499-2E05-993B26BA4977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890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E61E97-987A-4B0C-AF63-C09F2CA1C6E8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1D5A83-5F8D-42DE-AD45-B6316BA1EBA1}" type="slidenum">
              <a:rPr lang="es-CL" smtClean="0"/>
              <a:t>‹Nº›</a:t>
            </a:fld>
            <a:endParaRPr lang="es-C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7641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24E61E97-987A-4B0C-AF63-C09F2CA1C6E8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D81D5A83-5F8D-42DE-AD45-B6316BA1EB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68250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86023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8" y="3258190"/>
            <a:ext cx="11125201" cy="2964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chemeClr val="tx2"/>
                </a:solidFill>
              </a:defRPr>
            </a:lvl2pPr>
            <a:lvl3pPr marL="457200" indent="0">
              <a:buNone/>
              <a:defRPr>
                <a:solidFill>
                  <a:schemeClr val="tx2"/>
                </a:solidFill>
              </a:defRPr>
            </a:lvl3pPr>
            <a:lvl4pPr marL="685800" indent="0">
              <a:buNone/>
              <a:defRPr>
                <a:solidFill>
                  <a:schemeClr val="tx2"/>
                </a:solidFill>
              </a:defRPr>
            </a:lvl4pPr>
            <a:lvl5pPr marL="9144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50494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E61E97-987A-4B0C-AF63-C09F2CA1C6E8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4990" y="6492241"/>
            <a:ext cx="1043610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1D5A83-5F8D-42DE-AD45-B6316BA1EBA1}" type="slidenum">
              <a:rPr lang="es-CL" smtClean="0"/>
              <a:t>‹Nº›</a:t>
            </a:fld>
            <a:endParaRPr lang="es-C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612DD4-C154-5A34-CBE2-09022345DFF5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45B82D-4F13-20D2-DD25-C26E60C48A92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749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8576636" cy="184202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4614992"/>
            <a:ext cx="8576506" cy="1608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1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E61E97-987A-4B0C-AF63-C09F2CA1C6E8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81D5A83-5F8D-42DE-AD45-B6316BA1EBA1}" type="slidenum">
              <a:rPr lang="es-CL" smtClean="0"/>
              <a:t>‹Nº›</a:t>
            </a:fld>
            <a:endParaRPr lang="es-CL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0E45243-34A7-09D9-589C-A28D8FB592BD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7B2CF5-DB49-E6FB-F72A-24AA38988AEC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877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2880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399" y="6476998"/>
            <a:ext cx="8576637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0036" y="6476998"/>
            <a:ext cx="188595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24E61E97-987A-4B0C-AF63-C09F2CA1C6E8}" type="datetimeFigureOut">
              <a:rPr lang="es-CL" smtClean="0"/>
              <a:t>26-08-2026</a:t>
            </a:fld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9" y="6476998"/>
            <a:ext cx="65722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D81D5A83-5F8D-42DE-AD45-B6316BA1EB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58533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5" r:id="rId1"/>
    <p:sldLayoutId id="2147484256" r:id="rId2"/>
    <p:sldLayoutId id="2147484257" r:id="rId3"/>
    <p:sldLayoutId id="2147484258" r:id="rId4"/>
    <p:sldLayoutId id="2147484259" r:id="rId5"/>
    <p:sldLayoutId id="2147484260" r:id="rId6"/>
    <p:sldLayoutId id="2147484261" r:id="rId7"/>
    <p:sldLayoutId id="2147484262" r:id="rId8"/>
    <p:sldLayoutId id="2147484263" r:id="rId9"/>
    <p:sldLayoutId id="2147484264" r:id="rId10"/>
    <p:sldLayoutId id="2147484265" r:id="rId11"/>
    <p:sldLayoutId id="2147484266" r:id="rId12"/>
    <p:sldLayoutId id="2147484267" r:id="rId13"/>
    <p:sldLayoutId id="2147484268" r:id="rId14"/>
    <p:sldLayoutId id="2147484269" r:id="rId15"/>
    <p:sldLayoutId id="2147484270" r:id="rId16"/>
    <p:sldLayoutId id="2147484271" r:id="rId17"/>
    <p:sldLayoutId id="2147484272" r:id="rId18"/>
    <p:sldLayoutId id="2147484273" r:id="rId19"/>
    <p:sldLayoutId id="2147484274" r:id="rId20"/>
    <p:sldLayoutId id="2147484275" r:id="rId21"/>
    <p:sldLayoutId id="2147484276" r:id="rId22"/>
    <p:sldLayoutId id="2147484277" r:id="rId23"/>
    <p:sldLayoutId id="2147484278" r:id="rId24"/>
    <p:sldLayoutId id="2147484279" r:id="rId25"/>
    <p:sldLayoutId id="2147484280" r:id="rId26"/>
    <p:sldLayoutId id="2147484281" r:id="rId27"/>
    <p:sldLayoutId id="2147484282" r:id="rId28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0" orient="horz" pos="2160">
          <p15:clr>
            <a:srgbClr val="F26B43"/>
          </p15:clr>
        </p15:guide>
        <p15:guide id="31" pos="3840">
          <p15:clr>
            <a:srgbClr val="F26B43"/>
          </p15:clr>
        </p15:guide>
        <p15:guide id="32" pos="336">
          <p15:clr>
            <a:srgbClr val="F26B43"/>
          </p15:clr>
        </p15:guide>
        <p15:guide id="33" pos="7344">
          <p15:clr>
            <a:srgbClr val="F26B43"/>
          </p15:clr>
        </p15:guide>
        <p15:guide id="34" orient="horz" pos="4080">
          <p15:clr>
            <a:srgbClr val="F26B43"/>
          </p15:clr>
        </p15:guide>
        <p15:guide id="35" orient="horz" pos="1344">
          <p15:clr>
            <a:srgbClr val="F26B43"/>
          </p15:clr>
        </p15:guide>
        <p15:guide id="36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9"/>
          </a:solidFill>
          <a:ln w="12700">
            <a:solidFill>
              <a:srgbClr val="F8FAF9"/>
            </a:solidFill>
            <a:prstDash val="solid"/>
          </a:ln>
        </p:spPr>
        <p:txBody>
          <a:bodyPr/>
          <a:lstStyle/>
          <a:p>
            <a:endParaRPr lang="es-CL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6B5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TechCorp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" y="1124712"/>
            <a:ext cx="9966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06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Narrativa de datos para la transformación digital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10332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Continuar la inversión, pero cambiar el foco: de implementación acelerada a estabilización sostenible.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3520440"/>
            <a:ext cx="3840480" cy="0"/>
          </a:xfrm>
          <a:prstGeom prst="line">
            <a:avLst/>
          </a:prstGeom>
          <a:noFill/>
          <a:ln w="25400">
            <a:solidFill>
              <a:srgbClr val="2B6B57"/>
            </a:solidFill>
            <a:prstDash val="solid"/>
          </a:ln>
        </p:spPr>
        <p:txBody>
          <a:bodyPr/>
          <a:lstStyle/>
          <a:p>
            <a:endParaRPr lang="es-CL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3858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6B5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 principal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4169664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7201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transformación ya crea valor operacional y comercial; el riesgo crítico está en la capacidad interna para sostenerla.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55229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6B5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+18%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13232" y="59618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Productividad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13232" y="62087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06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72,0 a 85,0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834640" y="55229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7CB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+23 pts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834640" y="59618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ROI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834640" y="62087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06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-15% a +8%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56048" y="55229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65B5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+7 pts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56048" y="59618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Rotación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56048" y="62087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06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8% a 15%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077456" y="552297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1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9x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077456" y="59618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Vacantes tech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077456" y="62087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64706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a 18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B6B57"/>
          </a:solidFill>
          <a:ln w="12700">
            <a:solidFill>
              <a:srgbClr val="2B6B57"/>
            </a:solidFill>
            <a:prstDash val="solid"/>
          </a:ln>
        </p:spPr>
        <p:txBody>
          <a:bodyPr/>
          <a:lstStyle/>
          <a:p>
            <a:endParaRPr lang="es-C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6B5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VALOR LOGRADO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La operación mejoró: más producción con menos defectos</a:t>
            </a:r>
            <a:endParaRPr lang="en-US" sz="2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544641618"/>
              </p:ext>
            </p:extLst>
          </p:nvPr>
        </p:nvGraphicFramePr>
        <p:xfrm>
          <a:off x="640080" y="1234440"/>
          <a:ext cx="822960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9235440" y="1371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B5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Evidencia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235440" y="17830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Productividad: 72,0 → 85,0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Unidades/día: 450 → 580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Defectos: 4,2% → 1,8%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Ciclo: 8,5 h → 6,2 h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235440" y="33649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B5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Lectura ejecutiva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235440" y="37490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1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digitalización está generando eficiencia real en manufactura; detenerla significaría perder avance operativo.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13232" y="5715000"/>
            <a:ext cx="107899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Mensaje: la primera etapa de transformación ya produjo una mejora operacional medible.</a:t>
            </a:r>
            <a:endParaRPr lang="en-US" sz="15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8640" y="5623560"/>
            <a:ext cx="11064240" cy="0"/>
          </a:xfrm>
          <a:prstGeom prst="line">
            <a:avLst/>
          </a:prstGeom>
          <a:noFill/>
          <a:ln w="12700">
            <a:solidFill>
              <a:srgbClr val="DDEFE6"/>
            </a:solidFill>
            <a:prstDash val="solid"/>
          </a:ln>
        </p:spPr>
        <p:txBody>
          <a:bodyPr/>
          <a:lstStyle/>
          <a:p>
            <a:endParaRPr lang="es-C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B6B57"/>
          </a:solidFill>
          <a:ln w="12700">
            <a:solidFill>
              <a:srgbClr val="2B6B57"/>
            </a:solidFill>
            <a:prstDash val="solid"/>
          </a:ln>
        </p:spPr>
        <p:txBody>
          <a:bodyPr/>
          <a:lstStyle/>
          <a:p>
            <a:endParaRPr lang="es-C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6B5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IMPACTO EXTERNO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El cliente también percibe el cambio</a:t>
            </a:r>
            <a:endParaRPr lang="en-US" sz="2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883226501"/>
              </p:ext>
            </p:extLst>
          </p:nvPr>
        </p:nvGraphicFramePr>
        <p:xfrm>
          <a:off x="640080" y="1234440"/>
          <a:ext cx="822960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9235440" y="13716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B5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Evidencia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235440" y="178308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NPS: 42 → 68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Recompra: 62% → 78%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Reclamos: 8,5% → 3,2%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Entrega: 7,2 → 4,8 días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235440" y="33649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B5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Lectura ejecutiva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235440" y="37490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1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mejora interna se traduce en mejor experiencia, más recompra y menor fricción con clientes.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13232" y="5715000"/>
            <a:ext cx="107899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Mensaje: el beneficio no queda dentro de la planta; llega al cliente y mejora la lealtad.</a:t>
            </a:r>
            <a:endParaRPr lang="en-US" sz="15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8640" y="5623560"/>
            <a:ext cx="11064240" cy="0"/>
          </a:xfrm>
          <a:prstGeom prst="line">
            <a:avLst/>
          </a:prstGeom>
          <a:noFill/>
          <a:ln w="12700">
            <a:solidFill>
              <a:srgbClr val="DDEFE6"/>
            </a:solidFill>
            <a:prstDash val="solid"/>
          </a:ln>
        </p:spPr>
        <p:txBody>
          <a:bodyPr/>
          <a:lstStyle/>
          <a:p>
            <a:endParaRPr lang="es-C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B6B57"/>
          </a:solidFill>
          <a:ln w="12700">
            <a:solidFill>
              <a:srgbClr val="2B6B57"/>
            </a:solidFill>
            <a:prstDash val="solid"/>
          </a:ln>
        </p:spPr>
        <p:txBody>
          <a:bodyPr/>
          <a:lstStyle/>
          <a:p>
            <a:endParaRPr lang="es-C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6B5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RETORNO FINANCIERO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El ROI entró a terreno positivo</a:t>
            </a:r>
            <a:endParaRPr lang="en-US" sz="2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684692614"/>
              </p:ext>
            </p:extLst>
          </p:nvPr>
        </p:nvGraphicFramePr>
        <p:xfrm>
          <a:off x="640080" y="1234440"/>
          <a:ext cx="731520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>
            <p:extLst>
              <p:ext uri="{D42A27DB-BD31-4B8C-83A1-F6EECF244321}">
                <p14:modId xmlns:p14="http://schemas.microsoft.com/office/powerpoint/2010/main" val="2945080513"/>
              </p:ext>
            </p:extLst>
          </p:nvPr>
        </p:nvGraphicFramePr>
        <p:xfrm>
          <a:off x="8321040" y="1234440"/>
          <a:ext cx="315468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8321040" y="33832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ROI pasó de -15% a +8%, con un máximo de +11,2% antes de estabilizarse.</a:t>
            </a: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8321040" y="4224528"/>
            <a:ext cx="3154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7201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recomendación no es gastar más sin control: es proteger el retorno con foco en los procesos de mayor impacto.</a:t>
            </a:r>
            <a:endParaRPr lang="en-US" sz="14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13232" y="5715000"/>
            <a:ext cx="107899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Mensaje: la inversión empezó a pagar, pero el deterioro del cierre exige gobierno y priorización.</a:t>
            </a:r>
            <a:endParaRPr lang="en-US" sz="15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548640" y="5623560"/>
            <a:ext cx="11064240" cy="0"/>
          </a:xfrm>
          <a:prstGeom prst="line">
            <a:avLst/>
          </a:prstGeom>
          <a:noFill/>
          <a:ln w="12700">
            <a:solidFill>
              <a:srgbClr val="DDEFE6"/>
            </a:solidFill>
            <a:prstDash val="solid"/>
          </a:ln>
        </p:spPr>
        <p:txBody>
          <a:bodyPr/>
          <a:lstStyle/>
          <a:p>
            <a:endParaRPr lang="es-C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B6B57"/>
          </a:solidFill>
          <a:ln w="12700">
            <a:solidFill>
              <a:srgbClr val="2B6B57"/>
            </a:solidFill>
            <a:prstDash val="solid"/>
          </a:ln>
        </p:spPr>
        <p:txBody>
          <a:bodyPr/>
          <a:lstStyle/>
          <a:p>
            <a:endParaRPr lang="es-C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6B5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RIESGO CRÍTICO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El costo oculto está en la capacidad organizacional</a:t>
            </a:r>
            <a:endParaRPr lang="en-US" sz="2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556537232"/>
              </p:ext>
            </p:extLst>
          </p:nvPr>
        </p:nvGraphicFramePr>
        <p:xfrm>
          <a:off x="640080" y="1234440"/>
          <a:ext cx="822960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923544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65B5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Señales de alerta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235440" y="178308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Rotación: 8% → 15%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Satisfacción: 68 → 58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Horas extra: 5 → 12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Vacantes tech: 2 → 18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235440" y="33649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B5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Lectura ejecutiva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235440" y="37490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01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freno no está en la tecnología instalada, sino en la capacidad del equipo para sostenerla.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13232" y="5715000"/>
            <a:ext cx="107899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Mensaje: si no se gestiona el cambio, el avance tecnológico puede volverse insostenible.</a:t>
            </a:r>
            <a:endParaRPr lang="en-US" sz="15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8640" y="5623560"/>
            <a:ext cx="11064240" cy="0"/>
          </a:xfrm>
          <a:prstGeom prst="line">
            <a:avLst/>
          </a:prstGeom>
          <a:noFill/>
          <a:ln w="12700">
            <a:solidFill>
              <a:srgbClr val="DDEFE6"/>
            </a:solidFill>
            <a:prstDash val="solid"/>
          </a:ln>
        </p:spPr>
        <p:txBody>
          <a:bodyPr/>
          <a:lstStyle/>
          <a:p>
            <a:endParaRPr lang="es-C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B6B57"/>
          </a:solidFill>
          <a:ln w="12700">
            <a:solidFill>
              <a:srgbClr val="2B6B57"/>
            </a:solidFill>
            <a:prstDash val="solid"/>
          </a:ln>
        </p:spPr>
        <p:txBody>
          <a:bodyPr/>
          <a:lstStyle/>
          <a:p>
            <a:endParaRPr lang="es-C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6B5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SOSTENIBILIDAD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La adopción fue fuerte, pero el cierre muestra retroceso</a:t>
            </a:r>
            <a:endParaRPr lang="en-US" sz="2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807472023"/>
              </p:ext>
            </p:extLst>
          </p:nvPr>
        </p:nvGraphicFramePr>
        <p:xfrm>
          <a:off x="640080" y="1234440"/>
          <a:ext cx="822960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923544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6B5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Peak antes del cierre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235440" y="17830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Capacitados llegó a 99,5%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Procesos a 86,5%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Uso plataforma a 88,5%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235440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65B5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Cierre ene-2025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235440" y="3538728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Capacitados baja a 82%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Procesos a 72%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Uso plataforma a 68%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13232" y="5715000"/>
            <a:ext cx="107899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Mensaje: la adopción necesita pasar de lanzamiento a hábito operativo sostenido.</a:t>
            </a:r>
            <a:endParaRPr lang="en-US" sz="15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8640" y="5623560"/>
            <a:ext cx="11064240" cy="0"/>
          </a:xfrm>
          <a:prstGeom prst="line">
            <a:avLst/>
          </a:prstGeom>
          <a:noFill/>
          <a:ln w="12700">
            <a:solidFill>
              <a:srgbClr val="DDEFE6"/>
            </a:solidFill>
            <a:prstDash val="solid"/>
          </a:ln>
        </p:spPr>
        <p:txBody>
          <a:bodyPr/>
          <a:lstStyle/>
          <a:p>
            <a:endParaRPr lang="es-C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B6B57"/>
          </a:solidFill>
          <a:ln w="12700">
            <a:solidFill>
              <a:srgbClr val="2B6B57"/>
            </a:solidFill>
            <a:prstDash val="solid"/>
          </a:ln>
        </p:spPr>
        <p:txBody>
          <a:bodyPr/>
          <a:lstStyle/>
          <a:p>
            <a:endParaRPr lang="es-C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6B5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CIERRE EJECUTIVO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Decisión recomendada: continuar, pero estabilizar</a:t>
            </a:r>
            <a:endParaRPr lang="en-US" sz="2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6B5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Propuesta de acción concreta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700784" y="3017520"/>
            <a:ext cx="1554480" cy="0"/>
          </a:xfrm>
          <a:prstGeom prst="line">
            <a:avLst/>
          </a:prstGeom>
          <a:noFill/>
          <a:ln w="17780">
            <a:solidFill>
              <a:srgbClr val="69A8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849624" y="3017520"/>
            <a:ext cx="1554480" cy="0"/>
          </a:xfrm>
          <a:prstGeom prst="line">
            <a:avLst/>
          </a:prstGeom>
          <a:noFill/>
          <a:ln w="17780">
            <a:solidFill>
              <a:srgbClr val="69A8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98464" y="3017520"/>
            <a:ext cx="1554480" cy="0"/>
          </a:xfrm>
          <a:prstGeom prst="line">
            <a:avLst/>
          </a:prstGeom>
          <a:noFill/>
          <a:ln w="17780">
            <a:solidFill>
              <a:srgbClr val="69A8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147304" y="3017520"/>
            <a:ext cx="1554480" cy="0"/>
          </a:xfrm>
          <a:prstGeom prst="line">
            <a:avLst/>
          </a:prstGeom>
          <a:noFill/>
          <a:ln w="17780">
            <a:solidFill>
              <a:srgbClr val="69A8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85800" y="2697480"/>
            <a:ext cx="640080" cy="640080"/>
          </a:xfrm>
          <a:prstGeom prst="ellipse">
            <a:avLst/>
          </a:prstGeom>
          <a:solidFill>
            <a:srgbClr val="2B6B57"/>
          </a:solidFill>
          <a:ln w="12700">
            <a:solidFill>
              <a:srgbClr val="2B6B57"/>
            </a:solidFill>
            <a:prstDash val="solid"/>
          </a:ln>
        </p:spPr>
        <p:txBody>
          <a:bodyPr/>
          <a:lstStyle/>
          <a:p>
            <a:endParaRPr lang="es-C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2834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Reforzar soporte digital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5760" y="41605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06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Bajar tickets y acelerar resolución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834640" y="2697480"/>
            <a:ext cx="640080" cy="640080"/>
          </a:xfrm>
          <a:prstGeom prst="ellipse">
            <a:avLst/>
          </a:prstGeom>
          <a:solidFill>
            <a:srgbClr val="2B6B57"/>
          </a:solidFill>
          <a:ln w="12700">
            <a:solidFill>
              <a:srgbClr val="2B6B57"/>
            </a:solidFill>
            <a:prstDash val="solid"/>
          </a:ln>
        </p:spPr>
        <p:txBody>
          <a:bodyPr/>
          <a:lstStyle/>
          <a:p>
            <a:endParaRPr lang="es-C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834640" y="2834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606040" y="356616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Cubrir vacantes tech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514600" y="41605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06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Reducir dependencia y horas extra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983480" y="2697480"/>
            <a:ext cx="640080" cy="640080"/>
          </a:xfrm>
          <a:prstGeom prst="ellipse">
            <a:avLst/>
          </a:prstGeom>
          <a:solidFill>
            <a:srgbClr val="2B6B57"/>
          </a:solidFill>
          <a:ln w="12700">
            <a:solidFill>
              <a:srgbClr val="2B6B57"/>
            </a:solidFill>
            <a:prstDash val="solid"/>
          </a:ln>
        </p:spPr>
        <p:txBody>
          <a:bodyPr/>
          <a:lstStyle/>
          <a:p>
            <a:endParaRPr lang="es-C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83480" y="2834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54880" y="356616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Priorizar procesos de alto ROI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663440" y="41605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06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Proteger retorno y eficiencia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132320" y="2697480"/>
            <a:ext cx="640080" cy="640080"/>
          </a:xfrm>
          <a:prstGeom prst="ellipse">
            <a:avLst/>
          </a:prstGeom>
          <a:solidFill>
            <a:srgbClr val="2B6B57"/>
          </a:solidFill>
          <a:ln w="12700">
            <a:solidFill>
              <a:srgbClr val="2B6B57"/>
            </a:solidFill>
            <a:prstDash val="solid"/>
          </a:ln>
        </p:spPr>
        <p:txBody>
          <a:bodyPr/>
          <a:lstStyle/>
          <a:p>
            <a:endParaRPr lang="es-C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132320" y="2834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903720" y="356616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Gestionar el cambio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12280" y="41605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06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Mejorar adopción, satisfacción y retención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281160" y="2697480"/>
            <a:ext cx="640080" cy="640080"/>
          </a:xfrm>
          <a:prstGeom prst="ellipse">
            <a:avLst/>
          </a:prstGeom>
          <a:solidFill>
            <a:srgbClr val="E8A13A"/>
          </a:solidFill>
          <a:ln w="12700">
            <a:solidFill>
              <a:srgbClr val="E8A13A"/>
            </a:solidFill>
            <a:prstDash val="solid"/>
          </a:ln>
        </p:spPr>
        <p:txBody>
          <a:bodyPr/>
          <a:lstStyle/>
          <a:p>
            <a:endParaRPr lang="es-CL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281160" y="2834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endParaRPr lang="en-US" sz="13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052560" y="356616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Tablero mensual al CEO</a:t>
            </a:r>
            <a:endPara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961120" y="41605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06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Controlar avance, riesgos y decisiones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85800" y="5303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6B5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Cómo impulsa el cambio organizacional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85800" y="5650992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03B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narrativa convierte resultados mixtos en una decisión clara: proteger lo que funcionó, corregir el desgaste interno y sostener la transformación con indicadores mensuales.</a:t>
            </a:r>
            <a:endParaRPr lang="en-US" sz="15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ódulo">
  <a:themeElements>
    <a:clrScheme name="Aspecto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o" id="{37AC43F2-9181-4AE3-B669-CCC580C183C1}" vid="{7A2AE0A7-E8DE-4D1D-AEB1-3FD19244829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8</TotalTime>
  <Words>704</Words>
  <Application>Microsoft Office PowerPoint</Application>
  <PresentationFormat>Panorámica</PresentationFormat>
  <Paragraphs>97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Módulo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Gutierrez Phillips</dc:creator>
  <cp:lastModifiedBy>Nicolas Gutierrez Phillips</cp:lastModifiedBy>
  <cp:revision>1</cp:revision>
  <dcterms:created xsi:type="dcterms:W3CDTF">2026-08-27T00:35:53Z</dcterms:created>
  <dcterms:modified xsi:type="dcterms:W3CDTF">2026-08-27T00:44:41Z</dcterms:modified>
</cp:coreProperties>
</file>